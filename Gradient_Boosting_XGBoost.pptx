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38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1051560"/>
            <a:ext cx="7955279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GRADIENT BOOSTING</a:t>
            </a:r>
            <a:br/>
            <a:r>
              <a:t>&amp; XGBOOST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97480"/>
            <a:ext cx="7863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C3D6F0"/>
                </a:solidFill>
                <a:latin typeface="Aptos"/>
              </a:defRPr>
            </a:pPr>
            <a:r>
              <a:t>Gradient Boosting Algorithm • Extreme Gradient Boosting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58200" y="1143000"/>
            <a:ext cx="2423160" cy="685800"/>
          </a:xfrm>
          <a:prstGeom prst="roundRect">
            <a:avLst/>
          </a:prstGeom>
          <a:solidFill>
            <a:srgbClr val="274068"/>
          </a:solidFill>
          <a:ln>
            <a:solidFill>
              <a:srgbClr val="648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Base model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74352" y="1874519"/>
            <a:ext cx="0" cy="457201"/>
          </a:xfrm>
          <a:prstGeom prst="line">
            <a:avLst/>
          </a:prstGeom>
          <a:ln w="25400">
            <a:solidFill>
              <a:srgbClr val="C3D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458200" y="2359152"/>
            <a:ext cx="2423160" cy="685800"/>
          </a:xfrm>
          <a:prstGeom prst="roundRect">
            <a:avLst/>
          </a:prstGeom>
          <a:solidFill>
            <a:srgbClr val="274068"/>
          </a:solidFill>
          <a:ln>
            <a:solidFill>
              <a:srgbClr val="648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Decision tree 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674352" y="3090672"/>
            <a:ext cx="0" cy="457200"/>
          </a:xfrm>
          <a:prstGeom prst="line">
            <a:avLst/>
          </a:prstGeom>
          <a:ln w="25400">
            <a:solidFill>
              <a:srgbClr val="C3D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458200" y="3566160"/>
            <a:ext cx="2423160" cy="685800"/>
          </a:xfrm>
          <a:prstGeom prst="roundRect">
            <a:avLst/>
          </a:prstGeom>
          <a:solidFill>
            <a:srgbClr val="274068"/>
          </a:solidFill>
          <a:ln>
            <a:solidFill>
              <a:srgbClr val="648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FFFFFF"/>
                </a:solidFill>
                <a:latin typeface="Aptos"/>
              </a:defRPr>
            </a:pPr>
            <a:r>
              <a:t>Decision tree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448056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1">
                <a:solidFill>
                  <a:srgbClr val="C3D6F0"/>
                </a:solidFill>
                <a:latin typeface="Aptos"/>
              </a:defRPr>
            </a:pPr>
            <a:r>
              <a:t>… Decision tree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349240"/>
            <a:ext cx="3657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C3D6F0"/>
                </a:solidFill>
                <a:latin typeface="Aptos"/>
              </a:defRPr>
            </a:pPr>
            <a:r>
              <a:t>10-slide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365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C3D6F0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4C"/>
                </a:solidFill>
                <a:latin typeface="Aptos"/>
              </a:defRPr>
            </a:pPr>
            <a:r>
              <a:t>Gradient Boosting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868680" cy="54864"/>
          </a:xfrm>
          <a:prstGeom prst="rect">
            <a:avLst/>
          </a:prstGeom>
          <a:solidFill>
            <a:srgbClr val="259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365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97586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5" name="Oval 4"/>
          <p:cNvSpPr/>
          <p:nvPr/>
        </p:nvSpPr>
        <p:spPr>
          <a:xfrm>
            <a:off x="822960" y="1691639"/>
            <a:ext cx="109728" cy="109728"/>
          </a:xfrm>
          <a:prstGeom prst="ellipse">
            <a:avLst/>
          </a:prstGeom>
          <a:solidFill>
            <a:srgbClr val="259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" y="1508760"/>
            <a:ext cx="101681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2A3341"/>
                </a:solidFill>
                <a:latin typeface="Aptos"/>
              </a:defRPr>
            </a:pPr>
            <a:r>
              <a:t>ensemble boosting ML algorithm.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423160"/>
            <a:ext cx="109728" cy="109728"/>
          </a:xfrm>
          <a:prstGeom prst="ellipse">
            <a:avLst/>
          </a:prstGeom>
          <a:solidFill>
            <a:srgbClr val="259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78992" y="2240280"/>
            <a:ext cx="10168128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0">
                <a:solidFill>
                  <a:srgbClr val="2A3341"/>
                </a:solidFill>
                <a:latin typeface="Aptos"/>
              </a:defRPr>
            </a:pPr>
            <a:r>
              <a:t>We have two gradient alogorithms, XGBoost and LightGBM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246120"/>
            <a:ext cx="109728" cy="109728"/>
          </a:xfrm>
          <a:prstGeom prst="ellipse">
            <a:avLst/>
          </a:prstGeom>
          <a:solidFill>
            <a:srgbClr val="259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78992" y="3063240"/>
            <a:ext cx="10168128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2A3341"/>
                </a:solidFill>
                <a:latin typeface="Aptos"/>
              </a:defRPr>
            </a:pPr>
            <a:r>
              <a:t>It uses boosting logic, but here it focus on residuals of previous model and it will build the sequential decision trees.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892040"/>
            <a:ext cx="2011680" cy="731520"/>
          </a:xfrm>
          <a:prstGeom prst="roundRect">
            <a:avLst/>
          </a:prstGeom>
          <a:solidFill>
            <a:srgbClr val="EEF5FD"/>
          </a:solidFill>
          <a:ln>
            <a:solidFill>
              <a:srgbClr val="3C6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92B4C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71800" y="4892040"/>
            <a:ext cx="2011680" cy="731520"/>
          </a:xfrm>
          <a:prstGeom prst="roundRect">
            <a:avLst/>
          </a:prstGeom>
          <a:solidFill>
            <a:srgbClr val="EEF5FD"/>
          </a:solidFill>
          <a:ln>
            <a:solidFill>
              <a:srgbClr val="3C6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92B4C"/>
                </a:solidFill>
                <a:latin typeface="Aptos"/>
              </a:defRPr>
            </a:pPr>
            <a:r>
              <a:t>Base model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4892040"/>
            <a:ext cx="2011680" cy="731520"/>
          </a:xfrm>
          <a:prstGeom prst="roundRect">
            <a:avLst/>
          </a:prstGeom>
          <a:solidFill>
            <a:srgbClr val="E1F6F0"/>
          </a:solidFill>
          <a:ln>
            <a:solidFill>
              <a:srgbClr val="259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92B4C"/>
                </a:solidFill>
                <a:latin typeface="Aptos"/>
              </a:defRPr>
            </a:pPr>
            <a:r>
              <a:t>Decision tree 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4892040"/>
            <a:ext cx="2011680" cy="731520"/>
          </a:xfrm>
          <a:prstGeom prst="roundRect">
            <a:avLst/>
          </a:prstGeom>
          <a:solidFill>
            <a:srgbClr val="E1F6F0"/>
          </a:solidFill>
          <a:ln>
            <a:solidFill>
              <a:srgbClr val="259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92B4C"/>
                </a:solidFill>
                <a:latin typeface="Aptos"/>
              </a:defRPr>
            </a:pPr>
            <a:r>
              <a:t>Decision tree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4892040"/>
            <a:ext cx="1828800" cy="731520"/>
          </a:xfrm>
          <a:prstGeom prst="roundRect">
            <a:avLst/>
          </a:prstGeom>
          <a:solidFill>
            <a:srgbClr val="E1F6F0"/>
          </a:solidFill>
          <a:ln>
            <a:solidFill>
              <a:srgbClr val="259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92B4C"/>
                </a:solidFill>
                <a:latin typeface="Aptos"/>
              </a:defRPr>
            </a:pPr>
            <a:r>
              <a:t>… tree 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770632" y="5257800"/>
            <a:ext cx="164592" cy="0"/>
          </a:xfrm>
          <a:prstGeom prst="line">
            <a:avLst/>
          </a:prstGeom>
          <a:ln w="25400">
            <a:solidFill>
              <a:srgbClr val="6975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10912" y="5257800"/>
            <a:ext cx="164592" cy="0"/>
          </a:xfrm>
          <a:prstGeom prst="line">
            <a:avLst/>
          </a:prstGeom>
          <a:ln w="25400">
            <a:solidFill>
              <a:srgbClr val="6975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251192" y="5257800"/>
            <a:ext cx="164591" cy="0"/>
          </a:xfrm>
          <a:prstGeom prst="line">
            <a:avLst/>
          </a:prstGeom>
          <a:ln w="25400">
            <a:solidFill>
              <a:srgbClr val="6975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491472" y="5257800"/>
            <a:ext cx="164592" cy="0"/>
          </a:xfrm>
          <a:prstGeom prst="line">
            <a:avLst/>
          </a:prstGeom>
          <a:ln w="25400">
            <a:solidFill>
              <a:srgbClr val="6975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4C"/>
                </a:solidFill>
                <a:latin typeface="Aptos"/>
              </a:defRPr>
            </a:pPr>
            <a:r>
              <a:t>Residuals in Gradient Boosting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868680" cy="54864"/>
          </a:xfrm>
          <a:prstGeom prst="rect">
            <a:avLst/>
          </a:prstGeom>
          <a:solidFill>
            <a:srgbClr val="259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365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97586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192B4C"/>
                </a:solidFill>
                <a:latin typeface="Aptos"/>
              </a:defRPr>
            </a:pPr>
            <a:r>
              <a:t>Residual is 1/n*sum of(y-y^)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514600"/>
            <a:ext cx="2834640" cy="777240"/>
          </a:xfrm>
          <a:prstGeom prst="roundRect">
            <a:avLst/>
          </a:prstGeom>
          <a:solidFill>
            <a:srgbClr val="EEF5FD"/>
          </a:solidFill>
          <a:ln>
            <a:solidFill>
              <a:srgbClr val="3C6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92B4C"/>
                </a:solidFill>
                <a:latin typeface="Aptos"/>
              </a:defRPr>
            </a:pPr>
            <a:r>
              <a:t>n = no of records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2514600"/>
            <a:ext cx="2560320" cy="777240"/>
          </a:xfrm>
          <a:prstGeom prst="roundRect">
            <a:avLst/>
          </a:prstGeom>
          <a:solidFill>
            <a:srgbClr val="E1F6F0"/>
          </a:solidFill>
          <a:ln>
            <a:solidFill>
              <a:srgbClr val="259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92B4C"/>
                </a:solidFill>
                <a:latin typeface="Aptos"/>
              </a:defRPr>
            </a:pPr>
            <a:r>
              <a:t>y-actual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514600"/>
            <a:ext cx="2834640" cy="777240"/>
          </a:xfrm>
          <a:prstGeom prst="roundRect">
            <a:avLst/>
          </a:prstGeom>
          <a:solidFill>
            <a:srgbClr val="FFF5DF"/>
          </a:solidFill>
          <a:ln>
            <a:solidFill>
              <a:srgbClr val="EEB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92B4C"/>
                </a:solidFill>
                <a:latin typeface="Aptos"/>
              </a:defRPr>
            </a:pPr>
            <a:r>
              <a:t>y^- predicted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69080"/>
            <a:ext cx="10424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2A3341"/>
                </a:solidFill>
                <a:latin typeface="Aptos"/>
              </a:defRPr>
            </a:pPr>
            <a:r>
              <a:t>Here residual for one features is y-y^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8760" y="5074920"/>
            <a:ext cx="3108960" cy="640080"/>
          </a:xfrm>
          <a:prstGeom prst="roundRect">
            <a:avLst/>
          </a:prstGeom>
          <a:solidFill>
            <a:srgbClr val="EEF5FD"/>
          </a:solidFill>
          <a:ln>
            <a:solidFill>
              <a:srgbClr val="3C6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92B4C"/>
                </a:solidFill>
                <a:latin typeface="Aptos"/>
              </a:defRPr>
            </a:pPr>
            <a:r>
              <a:t>Actual data (y)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5138928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25998F"/>
                </a:solidFill>
                <a:latin typeface="Aptos"/>
              </a:defRPr>
            </a:pPr>
            <a:r>
              <a:t>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5074920"/>
            <a:ext cx="3108960" cy="640080"/>
          </a:xfrm>
          <a:prstGeom prst="roundRect">
            <a:avLst/>
          </a:prstGeom>
          <a:solidFill>
            <a:srgbClr val="EEF5FD"/>
          </a:solidFill>
          <a:ln>
            <a:solidFill>
              <a:srgbClr val="3C6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92B4C"/>
                </a:solidFill>
                <a:latin typeface="Aptos"/>
              </a:defRPr>
            </a:pPr>
            <a:r>
              <a:t>Predicted data (y^)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138928"/>
            <a:ext cx="4572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25998F"/>
                </a:solidFill>
                <a:latin typeface="Aptos"/>
              </a:defRPr>
            </a:pPr>
            <a:r>
              <a:t>=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81160" y="5074920"/>
            <a:ext cx="1737360" cy="640080"/>
          </a:xfrm>
          <a:prstGeom prst="roundRect">
            <a:avLst/>
          </a:prstGeom>
          <a:solidFill>
            <a:srgbClr val="E1F6F0"/>
          </a:solidFill>
          <a:ln>
            <a:solidFill>
              <a:srgbClr val="259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92B4C"/>
                </a:solidFill>
                <a:latin typeface="Aptos"/>
              </a:defRPr>
            </a:pPr>
            <a:r>
              <a:t>Residual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4C"/>
                </a:solidFill>
                <a:latin typeface="Aptos"/>
              </a:defRPr>
            </a:pPr>
            <a:r>
              <a:t>First Model — Predicted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868680" cy="54864"/>
          </a:xfrm>
          <a:prstGeom prst="rect">
            <a:avLst/>
          </a:prstGeom>
          <a:solidFill>
            <a:srgbClr val="259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365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97586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60704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192B4C"/>
                </a:solidFill>
                <a:latin typeface="Aptos"/>
              </a:defRPr>
            </a:pPr>
            <a:r>
              <a:t>first model- predicted data y^= 1/n sum of(y) where y is the actual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971800"/>
            <a:ext cx="2423160" cy="822960"/>
          </a:xfrm>
          <a:prstGeom prst="roundRect">
            <a:avLst/>
          </a:prstGeom>
          <a:solidFill>
            <a:srgbClr val="EEF5FD"/>
          </a:solidFill>
          <a:ln>
            <a:solidFill>
              <a:srgbClr val="3C6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92B4C"/>
                </a:solidFill>
                <a:latin typeface="Aptos"/>
              </a:defRPr>
            </a:pPr>
            <a:r>
              <a:t>Actual data (y)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611880" y="3383280"/>
            <a:ext cx="777240" cy="0"/>
          </a:xfrm>
          <a:prstGeom prst="line">
            <a:avLst/>
          </a:prstGeom>
          <a:ln w="25400">
            <a:solidFill>
              <a:srgbClr val="6975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26280" y="2971800"/>
            <a:ext cx="2514600" cy="822960"/>
          </a:xfrm>
          <a:prstGeom prst="roundRect">
            <a:avLst/>
          </a:prstGeom>
          <a:solidFill>
            <a:srgbClr val="E1F6F0"/>
          </a:solidFill>
          <a:ln>
            <a:solidFill>
              <a:srgbClr val="259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92B4C"/>
                </a:solidFill>
                <a:latin typeface="Aptos"/>
              </a:defRPr>
            </a:pPr>
            <a:r>
              <a:t>First model (M1)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32320" y="3383280"/>
            <a:ext cx="777240" cy="0"/>
          </a:xfrm>
          <a:prstGeom prst="line">
            <a:avLst/>
          </a:prstGeom>
          <a:ln w="25400">
            <a:solidFill>
              <a:srgbClr val="6975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046720" y="2971800"/>
            <a:ext cx="2743200" cy="822960"/>
          </a:xfrm>
          <a:prstGeom prst="roundRect">
            <a:avLst/>
          </a:prstGeom>
          <a:solidFill>
            <a:srgbClr val="FFF5DF"/>
          </a:solidFill>
          <a:ln>
            <a:solidFill>
              <a:srgbClr val="EEB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92B4C"/>
                </a:solidFill>
                <a:latin typeface="Aptos"/>
              </a:defRPr>
            </a:pPr>
            <a:r>
              <a:t>Predicted data (y^)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709160"/>
            <a:ext cx="99669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 b="1">
                <a:solidFill>
                  <a:srgbClr val="2A3341"/>
                </a:solidFill>
                <a:latin typeface="Aptos"/>
              </a:defRPr>
            </a:pPr>
            <a:r>
              <a:t>Residual = actual data − predicted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4C"/>
                </a:solidFill>
                <a:latin typeface="Aptos"/>
              </a:defRPr>
            </a:pPr>
            <a:r>
              <a:t>Train the Next Decision Tree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868680" cy="54864"/>
          </a:xfrm>
          <a:prstGeom prst="rect">
            <a:avLst/>
          </a:prstGeom>
          <a:solidFill>
            <a:srgbClr val="259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365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97586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69848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1">
                <a:solidFill>
                  <a:srgbClr val="192B4C"/>
                </a:solidFill>
                <a:latin typeface="Aptos"/>
              </a:defRPr>
            </a:pPr>
            <a:r>
              <a:t>Gradient boost will build second model and train data on DT1 based on previous residuals.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2148840" cy="868680"/>
          </a:xfrm>
          <a:prstGeom prst="roundRect">
            <a:avLst/>
          </a:prstGeom>
          <a:solidFill>
            <a:srgbClr val="EEF5FD"/>
          </a:solidFill>
          <a:ln>
            <a:solidFill>
              <a:srgbClr val="3C6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92B4C"/>
                </a:solidFill>
                <a:latin typeface="Aptos"/>
              </a:defRPr>
            </a:pPr>
            <a:r>
              <a:t>Model M1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743200"/>
            <a:ext cx="2331720" cy="868680"/>
          </a:xfrm>
          <a:prstGeom prst="roundRect">
            <a:avLst/>
          </a:prstGeom>
          <a:solidFill>
            <a:srgbClr val="FFF5DF"/>
          </a:solidFill>
          <a:ln>
            <a:solidFill>
              <a:srgbClr val="EEB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92B4C"/>
                </a:solidFill>
                <a:latin typeface="Aptos"/>
              </a:defRPr>
            </a:pPr>
            <a:r>
              <a:t>M1 residuals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743200"/>
            <a:ext cx="2240280" cy="868680"/>
          </a:xfrm>
          <a:prstGeom prst="roundRect">
            <a:avLst/>
          </a:prstGeom>
          <a:solidFill>
            <a:srgbClr val="E1F6F0"/>
          </a:solidFill>
          <a:ln>
            <a:solidFill>
              <a:srgbClr val="259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92B4C"/>
                </a:solidFill>
                <a:latin typeface="Aptos"/>
              </a:defRPr>
            </a:pPr>
            <a:r>
              <a:t>Decision tree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35440" y="2743200"/>
            <a:ext cx="2103120" cy="868680"/>
          </a:xfrm>
          <a:prstGeom prst="roundRect">
            <a:avLst/>
          </a:prstGeom>
          <a:solidFill>
            <a:srgbClr val="EEF5FD"/>
          </a:solidFill>
          <a:ln>
            <a:solidFill>
              <a:srgbClr val="3C6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92B4C"/>
                </a:solidFill>
                <a:latin typeface="Aptos"/>
              </a:defRPr>
            </a:pPr>
            <a:r>
              <a:t>Predictions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926080" y="3182112"/>
            <a:ext cx="457200" cy="0"/>
          </a:xfrm>
          <a:prstGeom prst="line">
            <a:avLst/>
          </a:prstGeom>
          <a:ln w="25400">
            <a:solidFill>
              <a:srgbClr val="6975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852160" y="3182112"/>
            <a:ext cx="457200" cy="0"/>
          </a:xfrm>
          <a:prstGeom prst="line">
            <a:avLst/>
          </a:prstGeom>
          <a:ln w="25400">
            <a:solidFill>
              <a:srgbClr val="6975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732520" y="3182112"/>
            <a:ext cx="457200" cy="0"/>
          </a:xfrm>
          <a:prstGeom prst="line">
            <a:avLst/>
          </a:prstGeom>
          <a:ln w="25400">
            <a:solidFill>
              <a:srgbClr val="6975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22960" y="4251960"/>
            <a:ext cx="10607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0">
                <a:solidFill>
                  <a:srgbClr val="2A3341"/>
                </a:solidFill>
                <a:latin typeface="Aptos"/>
              </a:defRPr>
            </a:pPr>
            <a:r>
              <a:t>Decision tree 1 is build on M1 Residuals===&gt; make predictions==&gt; DT1 residuals (Decision tree prediction) calling as residuals because we are training the model 1 residuals and getting residuals.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4C"/>
                </a:solidFill>
                <a:latin typeface="Aptos"/>
              </a:defRPr>
            </a:pPr>
            <a:r>
              <a:t>Update the Predictors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868680" cy="54864"/>
          </a:xfrm>
          <a:prstGeom prst="rect">
            <a:avLst/>
          </a:prstGeom>
          <a:solidFill>
            <a:srgbClr val="259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365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97586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92B4C"/>
                </a:solidFill>
                <a:latin typeface="Aptos"/>
              </a:defRPr>
            </a:pPr>
            <a:r>
              <a:t>Next step is to update the predictors with that residuals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2743200" cy="868680"/>
          </a:xfrm>
          <a:prstGeom prst="roundRect">
            <a:avLst/>
          </a:prstGeom>
          <a:solidFill>
            <a:srgbClr val="EEF5FD"/>
          </a:solidFill>
          <a:ln>
            <a:solidFill>
              <a:srgbClr val="3C6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92B4C"/>
                </a:solidFill>
                <a:latin typeface="Aptos"/>
              </a:defRPr>
            </a:pPr>
            <a:r>
              <a:t>M1 predictions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615184"/>
            <a:ext cx="411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>
                <a:solidFill>
                  <a:srgbClr val="25998F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2423160"/>
            <a:ext cx="2743200" cy="868680"/>
          </a:xfrm>
          <a:prstGeom prst="roundRect">
            <a:avLst/>
          </a:prstGeom>
          <a:solidFill>
            <a:srgbClr val="E1F6F0"/>
          </a:solidFill>
          <a:ln>
            <a:solidFill>
              <a:srgbClr val="259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92B4C"/>
                </a:solidFill>
                <a:latin typeface="Aptos"/>
              </a:defRPr>
            </a:pPr>
            <a:r>
              <a:t>α × DT1 residuals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995160" y="2852928"/>
            <a:ext cx="548640" cy="0"/>
          </a:xfrm>
          <a:prstGeom prst="line">
            <a:avLst/>
          </a:prstGeom>
          <a:ln w="25400">
            <a:solidFill>
              <a:srgbClr val="69758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635240" y="2423160"/>
            <a:ext cx="3474720" cy="868680"/>
          </a:xfrm>
          <a:prstGeom prst="roundRect">
            <a:avLst/>
          </a:prstGeom>
          <a:solidFill>
            <a:srgbClr val="FFF5DF"/>
          </a:solidFill>
          <a:ln>
            <a:solidFill>
              <a:srgbClr val="EEB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700" b="1">
                <a:solidFill>
                  <a:srgbClr val="192B4C"/>
                </a:solidFill>
                <a:latin typeface="Aptos"/>
              </a:defRPr>
            </a:pPr>
            <a:r>
              <a:t>New 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103327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92B4C"/>
                </a:solidFill>
                <a:latin typeface="Aptos"/>
              </a:defRPr>
            </a:pPr>
            <a:r>
              <a:t>new prediction=m1 predictions*alpha(dt1 residuals)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800600"/>
            <a:ext cx="103327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0">
                <a:solidFill>
                  <a:srgbClr val="2A3341"/>
                </a:solidFill>
                <a:latin typeface="Aptos"/>
              </a:defRPr>
            </a:pPr>
            <a:r>
              <a:t>alpha is a learning rate(0.1). it will reduce the residuals value to get correct prediction value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4C"/>
                </a:solidFill>
                <a:latin typeface="Aptos"/>
              </a:defRPr>
            </a:pPr>
            <a:r>
              <a:t>Residuals Reduce in Each Tree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868680" cy="54864"/>
          </a:xfrm>
          <a:prstGeom prst="rect">
            <a:avLst/>
          </a:prstGeom>
          <a:solidFill>
            <a:srgbClr val="259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365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97586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92B4C"/>
                </a:solidFill>
                <a:latin typeface="Aptos"/>
              </a:defRPr>
            </a:pPr>
            <a:r>
              <a:t>residuals error will get reduce in each Decision tree. then only your model is getting better.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697586"/>
                </a:solidFill>
                <a:latin typeface="Aptos"/>
              </a:defRPr>
            </a:pPr>
            <a:r>
              <a:t>Residual error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2514600"/>
            <a:ext cx="777240" cy="2286000"/>
          </a:xfrm>
          <a:prstGeom prst="rect">
            <a:avLst/>
          </a:prstGeom>
          <a:solidFill>
            <a:srgbClr val="3C6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783080" y="4892040"/>
            <a:ext cx="1051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A3341"/>
                </a:solidFill>
                <a:latin typeface="Aptos"/>
              </a:defRPr>
            </a:pPr>
            <a:r>
              <a:t>Base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3063240"/>
            <a:ext cx="777240" cy="1737360"/>
          </a:xfrm>
          <a:prstGeom prst="rect">
            <a:avLst/>
          </a:prstGeom>
          <a:solidFill>
            <a:srgbClr val="259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11879" y="4892040"/>
            <a:ext cx="1051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A3341"/>
                </a:solidFill>
                <a:latin typeface="Aptos"/>
              </a:defRPr>
            </a:pPr>
            <a:r>
              <a:t>DT1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77840" y="3611880"/>
            <a:ext cx="777240" cy="1188720"/>
          </a:xfrm>
          <a:prstGeom prst="rect">
            <a:avLst/>
          </a:prstGeom>
          <a:solidFill>
            <a:srgbClr val="259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40679" y="4892040"/>
            <a:ext cx="1051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A3341"/>
                </a:solidFill>
                <a:latin typeface="Aptos"/>
              </a:defRPr>
            </a:pPr>
            <a:r>
              <a:t>DT2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4114800"/>
            <a:ext cx="777240" cy="685800"/>
          </a:xfrm>
          <a:prstGeom prst="rect">
            <a:avLst/>
          </a:prstGeom>
          <a:solidFill>
            <a:srgbClr val="EEB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69479" y="4892040"/>
            <a:ext cx="1051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A3341"/>
                </a:solidFill>
                <a:latin typeface="Aptos"/>
              </a:defRPr>
            </a:pPr>
            <a:r>
              <a:t>DT3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35440" y="4480560"/>
            <a:ext cx="777240" cy="320040"/>
          </a:xfrm>
          <a:prstGeom prst="rect">
            <a:avLst/>
          </a:prstGeom>
          <a:solidFill>
            <a:srgbClr val="EEB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98280" y="4892040"/>
            <a:ext cx="1051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A3341"/>
                </a:solidFill>
                <a:latin typeface="Aptos"/>
              </a:defRPr>
            </a:pPr>
            <a:r>
              <a:t>DTn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486400"/>
            <a:ext cx="8046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700" b="0">
                <a:solidFill>
                  <a:srgbClr val="697586"/>
                </a:solidFill>
                <a:latin typeface="Aptos"/>
              </a:defRPr>
            </a:pPr>
            <a:r>
              <a:t>Decision trees built sequentially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4C"/>
                </a:solidFill>
                <a:latin typeface="Aptos"/>
              </a:defRPr>
            </a:pPr>
            <a:r>
              <a:t>Disadvantage of GB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868680" cy="54864"/>
          </a:xfrm>
          <a:prstGeom prst="rect">
            <a:avLst/>
          </a:prstGeom>
          <a:solidFill>
            <a:srgbClr val="259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365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97586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5" name="Oval 4"/>
          <p:cNvSpPr/>
          <p:nvPr/>
        </p:nvSpPr>
        <p:spPr>
          <a:xfrm>
            <a:off x="960120" y="1581912"/>
            <a:ext cx="502920" cy="502920"/>
          </a:xfrm>
          <a:prstGeom prst="ellipse">
            <a:avLst/>
          </a:prstGeom>
          <a:solidFill>
            <a:srgbClr val="3C6C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91640" y="1508760"/>
            <a:ext cx="8778240" cy="658368"/>
          </a:xfrm>
          <a:prstGeom prst="roundRect">
            <a:avLst/>
          </a:prstGeom>
          <a:solidFill>
            <a:srgbClr val="EEF5FD"/>
          </a:solidFill>
          <a:ln>
            <a:solidFill>
              <a:srgbClr val="3C6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192B4C"/>
                </a:solidFill>
                <a:latin typeface="Aptos"/>
              </a:defRPr>
            </a:pPr>
            <a:r>
              <a:t>Slow training</a:t>
            </a:r>
          </a:p>
        </p:txBody>
      </p:sp>
      <p:sp>
        <p:nvSpPr>
          <p:cNvPr id="7" name="Oval 6"/>
          <p:cNvSpPr/>
          <p:nvPr/>
        </p:nvSpPr>
        <p:spPr>
          <a:xfrm>
            <a:off x="960120" y="2633472"/>
            <a:ext cx="502920" cy="502920"/>
          </a:xfrm>
          <a:prstGeom prst="ellipse">
            <a:avLst/>
          </a:prstGeom>
          <a:solidFill>
            <a:srgbClr val="C7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91640" y="2560320"/>
            <a:ext cx="8778240" cy="658368"/>
          </a:xfrm>
          <a:prstGeom prst="roundRect">
            <a:avLst/>
          </a:prstGeom>
          <a:solidFill>
            <a:srgbClr val="EEF5FD"/>
          </a:solidFill>
          <a:ln>
            <a:solidFill>
              <a:srgbClr val="C7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192B4C"/>
                </a:solidFill>
                <a:latin typeface="Aptos"/>
              </a:defRPr>
            </a:pPr>
            <a:r>
              <a:t>Data overfitting</a:t>
            </a:r>
          </a:p>
        </p:txBody>
      </p:sp>
      <p:sp>
        <p:nvSpPr>
          <p:cNvPr id="9" name="Oval 8"/>
          <p:cNvSpPr/>
          <p:nvPr/>
        </p:nvSpPr>
        <p:spPr>
          <a:xfrm>
            <a:off x="960120" y="3685031"/>
            <a:ext cx="502920" cy="502920"/>
          </a:xfrm>
          <a:prstGeom prst="ellipse">
            <a:avLst/>
          </a:prstGeom>
          <a:solidFill>
            <a:srgbClr val="EEB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91640" y="3611879"/>
            <a:ext cx="8778240" cy="658368"/>
          </a:xfrm>
          <a:prstGeom prst="roundRect">
            <a:avLst/>
          </a:prstGeom>
          <a:solidFill>
            <a:srgbClr val="EEF5FD"/>
          </a:solidFill>
          <a:ln>
            <a:solidFill>
              <a:srgbClr val="EEB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192B4C"/>
                </a:solidFill>
                <a:latin typeface="Aptos"/>
              </a:defRPr>
            </a:pPr>
            <a:r>
              <a:t>cant handle missing values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4736592"/>
            <a:ext cx="502920" cy="502920"/>
          </a:xfrm>
          <a:prstGeom prst="ellipse">
            <a:avLst/>
          </a:prstGeom>
          <a:solidFill>
            <a:srgbClr val="259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91640" y="4663440"/>
            <a:ext cx="8778240" cy="658368"/>
          </a:xfrm>
          <a:prstGeom prst="roundRect">
            <a:avLst/>
          </a:prstGeom>
          <a:solidFill>
            <a:srgbClr val="EEF5FD"/>
          </a:solidFill>
          <a:ln>
            <a:solidFill>
              <a:srgbClr val="259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900" b="1">
                <a:solidFill>
                  <a:srgbClr val="192B4C"/>
                </a:solidFill>
                <a:latin typeface="Aptos"/>
              </a:defRPr>
            </a:pPr>
            <a:r>
              <a:t>large memory usage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92B4C"/>
                </a:solidFill>
                <a:latin typeface="Aptos"/>
              </a:defRPr>
            </a:pPr>
            <a:r>
              <a:t>Extreme GBoost (XGBoost)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32688"/>
            <a:ext cx="868680" cy="54864"/>
          </a:xfrm>
          <a:prstGeom prst="rect">
            <a:avLst/>
          </a:prstGeom>
          <a:solidFill>
            <a:srgbClr val="259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247120" y="6473952"/>
            <a:ext cx="365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97586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192B4C"/>
                </a:solidFill>
                <a:latin typeface="Aptos"/>
              </a:defRPr>
            </a:pPr>
            <a:r>
              <a:t>completely similar to gradient boosting, while building Decision tree XGBoost algorithm applies below things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48840"/>
            <a:ext cx="5257800" cy="502920"/>
          </a:xfrm>
          <a:prstGeom prst="roundRect">
            <a:avLst/>
          </a:prstGeom>
          <a:solidFill>
            <a:srgbClr val="EEF5FD"/>
          </a:solidFill>
          <a:ln>
            <a:solidFill>
              <a:srgbClr val="3C6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92B4C"/>
                </a:solidFill>
                <a:latin typeface="Aptos"/>
              </a:defRPr>
            </a:pPr>
            <a:r>
              <a:t>Regularization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715768"/>
            <a:ext cx="5257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3C6C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2A3341"/>
                </a:solidFill>
                <a:latin typeface="Aptos"/>
              </a:defRPr>
            </a:pPr>
            <a:r>
              <a:t>When accuracy is not there when increasing the decision tress, it will not extend Decision tree.it applies penalty.</a:t>
            </a:r>
            <a:br/>
            <a:r>
              <a:t>it controls the unnecessary growth of decision tree.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148840"/>
            <a:ext cx="5257800" cy="502920"/>
          </a:xfrm>
          <a:prstGeom prst="roundRect">
            <a:avLst/>
          </a:prstGeom>
          <a:solidFill>
            <a:srgbClr val="EEF5FD"/>
          </a:solidFill>
          <a:ln>
            <a:solidFill>
              <a:srgbClr val="259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92B4C"/>
                </a:solidFill>
                <a:latin typeface="Aptos"/>
              </a:defRPr>
            </a:pPr>
            <a:r>
              <a:t>pre-pruning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715768"/>
            <a:ext cx="5257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59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2A3341"/>
                </a:solidFill>
                <a:latin typeface="Aptos"/>
              </a:defRPr>
            </a:pPr>
            <a:r>
              <a:t>it evaluates whether the split is valid before split, it will check the accuracy before split and remove the branches.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4160520"/>
            <a:ext cx="5257800" cy="502920"/>
          </a:xfrm>
          <a:prstGeom prst="roundRect">
            <a:avLst/>
          </a:prstGeom>
          <a:solidFill>
            <a:srgbClr val="EEF5FD"/>
          </a:solidFill>
          <a:ln>
            <a:solidFill>
              <a:srgbClr val="EEB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92B4C"/>
                </a:solidFill>
                <a:latin typeface="Aptos"/>
              </a:defRPr>
            </a:pPr>
            <a:r>
              <a:t>Handle missing values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27448"/>
            <a:ext cx="5257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EB0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2A3341"/>
                </a:solidFill>
                <a:latin typeface="Aptos"/>
              </a:defRPr>
            </a:pPr>
            <a:r>
              <a:t>We dont need to preprocess data, XGBOOST algorithm does automatically.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60520"/>
            <a:ext cx="5257800" cy="502920"/>
          </a:xfrm>
          <a:prstGeom prst="roundRect">
            <a:avLst/>
          </a:prstGeom>
          <a:solidFill>
            <a:srgbClr val="EEF5FD"/>
          </a:solidFill>
          <a:ln>
            <a:solidFill>
              <a:srgbClr val="C7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600" b="1">
                <a:solidFill>
                  <a:srgbClr val="192B4C"/>
                </a:solidFill>
                <a:latin typeface="Aptos"/>
              </a:defRPr>
            </a:pPr>
            <a:r>
              <a:t>parallel processing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727448"/>
            <a:ext cx="52578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74C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>
                <a:solidFill>
                  <a:srgbClr val="2A3341"/>
                </a:solidFill>
                <a:latin typeface="Aptos"/>
              </a:defRPr>
            </a:pPr>
            <a:r>
              <a:t>It follows sequential on Decision trees but internal computation of DT is parallel so it improves speed of boosting.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B4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65760"/>
            <a:ext cx="109728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FFFFFF"/>
                </a:solidFill>
                <a:latin typeface="Aptos"/>
              </a:defRPr>
            </a:pPr>
            <a:r>
              <a:t>Parallel Processing in XGBoost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10607040" cy="1051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900" b="0">
                <a:solidFill>
                  <a:srgbClr val="DCE7F7"/>
                </a:solidFill>
                <a:latin typeface="Aptos"/>
              </a:defRPr>
            </a:pPr>
            <a:r>
              <a:t>Bagging- training of decision tree</a:t>
            </a:r>
            <a:br/>
            <a:r>
              <a:t>boosting- training of decision tree is sequential only the internal computation means building of decision tree is parallel.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" y="274320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C3D6F0"/>
                </a:solidFill>
                <a:latin typeface="Aptos"/>
              </a:defRPr>
            </a:pPr>
            <a:r>
              <a:t>Bagging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2606040"/>
            <a:ext cx="1508760" cy="658368"/>
          </a:xfrm>
          <a:prstGeom prst="roundRect">
            <a:avLst/>
          </a:prstGeom>
          <a:solidFill>
            <a:srgbClr val="274068"/>
          </a:solidFill>
          <a:ln>
            <a:solidFill>
              <a:srgbClr val="648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Tree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09160" y="2606040"/>
            <a:ext cx="1508760" cy="658368"/>
          </a:xfrm>
          <a:prstGeom prst="roundRect">
            <a:avLst/>
          </a:prstGeom>
          <a:solidFill>
            <a:srgbClr val="274068"/>
          </a:solidFill>
          <a:ln>
            <a:solidFill>
              <a:srgbClr val="648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Tree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2606040"/>
            <a:ext cx="1508760" cy="658368"/>
          </a:xfrm>
          <a:prstGeom prst="roundRect">
            <a:avLst/>
          </a:prstGeom>
          <a:solidFill>
            <a:srgbClr val="274068"/>
          </a:solidFill>
          <a:ln>
            <a:solidFill>
              <a:srgbClr val="648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Tree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4343400"/>
            <a:ext cx="1828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C3D6F0"/>
                </a:solidFill>
                <a:latin typeface="Aptos"/>
              </a:defRPr>
            </a:pPr>
            <a:r>
              <a:t>Boosting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4160520"/>
            <a:ext cx="1508760" cy="658368"/>
          </a:xfrm>
          <a:prstGeom prst="roundRect">
            <a:avLst/>
          </a:prstGeom>
          <a:solidFill>
            <a:srgbClr val="274068"/>
          </a:solidFill>
          <a:ln>
            <a:solidFill>
              <a:srgbClr val="648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Tree 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315968" y="4489704"/>
            <a:ext cx="347472" cy="0"/>
          </a:xfrm>
          <a:prstGeom prst="line">
            <a:avLst/>
          </a:prstGeom>
          <a:ln w="25400">
            <a:solidFill>
              <a:srgbClr val="C3D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754880" y="4160520"/>
            <a:ext cx="1508760" cy="658368"/>
          </a:xfrm>
          <a:prstGeom prst="roundRect">
            <a:avLst/>
          </a:prstGeom>
          <a:solidFill>
            <a:srgbClr val="274068"/>
          </a:solidFill>
          <a:ln>
            <a:solidFill>
              <a:srgbClr val="648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Tree 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27648" y="4489704"/>
            <a:ext cx="347472" cy="0"/>
          </a:xfrm>
          <a:prstGeom prst="line">
            <a:avLst/>
          </a:prstGeom>
          <a:ln w="25400">
            <a:solidFill>
              <a:srgbClr val="C3D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766560" y="4160520"/>
            <a:ext cx="1508760" cy="658368"/>
          </a:xfrm>
          <a:prstGeom prst="roundRect">
            <a:avLst/>
          </a:prstGeom>
          <a:solidFill>
            <a:srgbClr val="274068"/>
          </a:solidFill>
          <a:ln>
            <a:solidFill>
              <a:srgbClr val="648C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Tree 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4023360"/>
            <a:ext cx="2468880" cy="914400"/>
          </a:xfrm>
          <a:prstGeom prst="roundRect">
            <a:avLst/>
          </a:prstGeom>
          <a:solidFill>
            <a:srgbClr val="E1F6F0"/>
          </a:solidFill>
          <a:ln>
            <a:solidFill>
              <a:srgbClr val="259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500" b="1">
                <a:solidFill>
                  <a:srgbClr val="192B4C"/>
                </a:solidFill>
                <a:latin typeface="Aptos"/>
              </a:defRPr>
            </a:pPr>
            <a:r>
              <a:t>Internal computation</a:t>
            </a:r>
            <a:br/>
            <a:r>
              <a:t>is parallel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715000"/>
            <a:ext cx="86868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XGBoost improves speed of boosting.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73952"/>
            <a:ext cx="365760" cy="16459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C3D6F0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517</Words>
  <Application>Microsoft Office PowerPoint</Application>
  <PresentationFormat>Widescreen</PresentationFormat>
  <Paragraphs>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918939696018</cp:lastModifiedBy>
  <cp:revision>1</cp:revision>
  <dcterms:created xsi:type="dcterms:W3CDTF">2013-01-27T09:14:16Z</dcterms:created>
  <dcterms:modified xsi:type="dcterms:W3CDTF">2026-10-27T23:06:36Z</dcterms:modified>
  <cp:category/>
</cp:coreProperties>
</file>