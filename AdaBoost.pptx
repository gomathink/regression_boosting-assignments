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38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A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418320" y="640080"/>
            <a:ext cx="914400" cy="914400"/>
          </a:xfrm>
          <a:prstGeom prst="ellipse">
            <a:avLst/>
          </a:prstGeom>
          <a:solidFill>
            <a:srgbClr val="239B91"/>
          </a:solidFill>
          <a:ln>
            <a:solidFill>
              <a:srgbClr val="23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endParaRPr/>
          </a:p>
        </p:txBody>
      </p:sp>
      <p:sp>
        <p:nvSpPr>
          <p:cNvPr id="3" name="Oval 2"/>
          <p:cNvSpPr/>
          <p:nvPr/>
        </p:nvSpPr>
        <p:spPr>
          <a:xfrm>
            <a:off x="10721340" y="1577340"/>
            <a:ext cx="502920" cy="502920"/>
          </a:xfrm>
          <a:prstGeom prst="ellipse">
            <a:avLst/>
          </a:prstGeom>
          <a:solidFill>
            <a:srgbClr val="F2B134"/>
          </a:solidFill>
          <a:ln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endParaRPr/>
          </a:p>
        </p:txBody>
      </p:sp>
      <p:sp>
        <p:nvSpPr>
          <p:cNvPr id="4" name="Oval 3"/>
          <p:cNvSpPr/>
          <p:nvPr/>
        </p:nvSpPr>
        <p:spPr>
          <a:xfrm>
            <a:off x="9304020" y="2537460"/>
            <a:ext cx="411480" cy="411480"/>
          </a:xfrm>
          <a:prstGeom prst="ellipse">
            <a:avLst/>
          </a:prstGeom>
          <a:solidFill>
            <a:srgbClr val="3769BE"/>
          </a:solidFill>
          <a:ln>
            <a:solidFill>
              <a:srgbClr val="37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endParaRPr/>
          </a:p>
        </p:txBody>
      </p:sp>
      <p:sp>
        <p:nvSpPr>
          <p:cNvPr id="5" name="Oval 4"/>
          <p:cNvSpPr/>
          <p:nvPr/>
        </p:nvSpPr>
        <p:spPr>
          <a:xfrm>
            <a:off x="10401300" y="3268980"/>
            <a:ext cx="777240" cy="777240"/>
          </a:xfrm>
          <a:prstGeom prst="ellipse">
            <a:avLst/>
          </a:prstGeom>
          <a:solidFill>
            <a:srgbClr val="239B91"/>
          </a:solidFill>
          <a:ln>
            <a:solidFill>
              <a:srgbClr val="23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endParaRPr/>
          </a:p>
        </p:txBody>
      </p:sp>
      <p:sp>
        <p:nvSpPr>
          <p:cNvPr id="6" name="Oval 5"/>
          <p:cNvSpPr/>
          <p:nvPr/>
        </p:nvSpPr>
        <p:spPr>
          <a:xfrm>
            <a:off x="8686800" y="4480560"/>
            <a:ext cx="548640" cy="548640"/>
          </a:xfrm>
          <a:prstGeom prst="ellipse">
            <a:avLst/>
          </a:prstGeom>
          <a:solidFill>
            <a:srgbClr val="F2B134"/>
          </a:solidFill>
          <a:ln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75895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ADA BOOST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057400"/>
            <a:ext cx="7589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0">
                <a:solidFill>
                  <a:srgbClr val="BED3EF"/>
                </a:solidFill>
                <a:latin typeface="Aptos"/>
              </a:defRPr>
            </a:pPr>
            <a:r>
              <a:t>Adaptive Boosting Algorithm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71800"/>
            <a:ext cx="6858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A simple introduction to boosting, decision stumps, and sample weights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069080"/>
            <a:ext cx="1188720" cy="73152"/>
          </a:xfrm>
          <a:prstGeom prst="rect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BED3EF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182A4C"/>
                </a:solidFill>
                <a:latin typeface="Aptos"/>
              </a:defRPr>
            </a:pPr>
            <a:r>
              <a:t>What is Boosting?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32688"/>
            <a:ext cx="914400" cy="54864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789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97484"/>
                </a:solidFill>
                <a:latin typeface="Aptos"/>
              </a:defRPr>
            </a:pPr>
            <a:r>
              <a:t>An ensemble learning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9748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810512"/>
            <a:ext cx="109728" cy="109728"/>
          </a:xfrm>
          <a:prstGeom prst="ellipse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" y="1645920"/>
            <a:ext cx="998524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0">
                <a:solidFill>
                  <a:srgbClr val="28303C"/>
                </a:solidFill>
                <a:latin typeface="Aptos"/>
              </a:defRPr>
            </a:pPr>
            <a:r>
              <a:rPr dirty="0"/>
              <a:t>Ensemble learning combines several models to make one stronger model.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587752"/>
            <a:ext cx="109728" cy="109728"/>
          </a:xfrm>
          <a:prstGeom prst="ellipse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6577" y="2391156"/>
            <a:ext cx="998524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0">
                <a:solidFill>
                  <a:srgbClr val="28303C"/>
                </a:solidFill>
                <a:latin typeface="Aptos"/>
              </a:defRPr>
            </a:pPr>
            <a:r>
              <a:rPr dirty="0"/>
              <a:t>Each individual model is called a weak learner.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364992"/>
            <a:ext cx="109728" cy="109728"/>
          </a:xfrm>
          <a:prstGeom prst="ellipse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" y="3200400"/>
            <a:ext cx="998524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0">
                <a:solidFill>
                  <a:srgbClr val="28303C"/>
                </a:solidFill>
                <a:latin typeface="Aptos"/>
              </a:defRPr>
            </a:pPr>
            <a:r>
              <a:t>Models are trained one after another (sequentially).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142231"/>
            <a:ext cx="109728" cy="109728"/>
          </a:xfrm>
          <a:prstGeom prst="ellipse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3977639"/>
            <a:ext cx="998524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0">
                <a:solidFill>
                  <a:srgbClr val="28303C"/>
                </a:solidFill>
                <a:latin typeface="Aptos"/>
              </a:defRPr>
            </a:pPr>
            <a:r>
              <a:t>Later models pay more attention to examples earlier models got wrong.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5074920"/>
            <a:ext cx="2331720" cy="731520"/>
          </a:xfrm>
          <a:prstGeom prst="roundRect">
            <a:avLst/>
          </a:prstGeom>
          <a:solidFill>
            <a:srgbClr val="F1F6FC"/>
          </a:solidFill>
          <a:ln>
            <a:solidFill>
              <a:srgbClr val="37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182A4C"/>
                </a:solidFill>
                <a:latin typeface="Aptos"/>
              </a:defRPr>
            </a:pPr>
            <a:r>
              <a:t>Weak learner 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401568" y="5440680"/>
            <a:ext cx="576071" cy="0"/>
          </a:xfrm>
          <a:prstGeom prst="line">
            <a:avLst/>
          </a:prstGeom>
          <a:ln w="25400">
            <a:solidFill>
              <a:srgbClr val="69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069080" y="5074920"/>
            <a:ext cx="2331720" cy="731520"/>
          </a:xfrm>
          <a:prstGeom prst="roundRect">
            <a:avLst/>
          </a:prstGeom>
          <a:solidFill>
            <a:srgbClr val="F1F6FC"/>
          </a:solidFill>
          <a:ln>
            <a:solidFill>
              <a:srgbClr val="37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182A4C"/>
                </a:solidFill>
                <a:latin typeface="Aptos"/>
              </a:defRPr>
            </a:pPr>
            <a:r>
              <a:t>Weak learner 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510528" y="5440680"/>
            <a:ext cx="576072" cy="0"/>
          </a:xfrm>
          <a:prstGeom prst="line">
            <a:avLst/>
          </a:prstGeom>
          <a:ln w="25400">
            <a:solidFill>
              <a:srgbClr val="69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178040" y="5074920"/>
            <a:ext cx="2331720" cy="731520"/>
          </a:xfrm>
          <a:prstGeom prst="roundRect">
            <a:avLst/>
          </a:prstGeom>
          <a:solidFill>
            <a:srgbClr val="F1F6FC"/>
          </a:solidFill>
          <a:ln>
            <a:solidFill>
              <a:srgbClr val="37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182A4C"/>
                </a:solidFill>
                <a:latin typeface="Aptos"/>
              </a:defRPr>
            </a:pPr>
            <a:r>
              <a:t>Weak learner 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619488" y="5440680"/>
            <a:ext cx="484632" cy="0"/>
          </a:xfrm>
          <a:prstGeom prst="line">
            <a:avLst/>
          </a:prstGeom>
          <a:ln w="25400">
            <a:solidFill>
              <a:srgbClr val="69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149840" y="5074920"/>
            <a:ext cx="1325880" cy="731520"/>
          </a:xfrm>
          <a:prstGeom prst="roundRect">
            <a:avLst/>
          </a:prstGeom>
          <a:solidFill>
            <a:srgbClr val="E0F6F1"/>
          </a:solidFill>
          <a:ln>
            <a:solidFill>
              <a:srgbClr val="23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82A4C"/>
                </a:solidFill>
                <a:latin typeface="Aptos"/>
              </a:defRPr>
            </a:pPr>
            <a:r>
              <a:t>Strong</a:t>
            </a:r>
            <a:br/>
            <a:r>
              <a:t>model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4FB3028-9EE3-4DAC-35A9-C9B469394CC8}"/>
              </a:ext>
            </a:extLst>
          </p:cNvPr>
          <p:cNvSpPr txBox="1"/>
          <p:nvPr/>
        </p:nvSpPr>
        <p:spPr>
          <a:xfrm>
            <a:off x="689531" y="797215"/>
            <a:ext cx="9944222" cy="4004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rgbClr val="28303C"/>
                </a:solidFill>
                <a:latin typeface="Aptos"/>
              </a:rPr>
              <a:t>Make predictions as correct prediction and incorrect prediction. 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rgbClr val="28303C"/>
                </a:solidFill>
                <a:latin typeface="Aptos"/>
              </a:rPr>
              <a:t>Decrease the importance of correct prediction and increase the importance of incorrect prediction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rgbClr val="28303C"/>
                </a:solidFill>
                <a:latin typeface="Aptos"/>
              </a:rPr>
              <a:t>Next model will focus on incorrect prediction and try to fix it.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rgbClr val="28303C"/>
                </a:solidFill>
                <a:latin typeface="Aptos"/>
              </a:rPr>
              <a:t>Sequence will continue until it finds the strong learner.</a:t>
            </a:r>
          </a:p>
        </p:txBody>
      </p:sp>
    </p:spTree>
    <p:extLst>
      <p:ext uri="{BB962C8B-B14F-4D97-AF65-F5344CB8AC3E}">
        <p14:creationId xmlns:p14="http://schemas.microsoft.com/office/powerpoint/2010/main" val="1312853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182A4C"/>
                </a:solidFill>
                <a:latin typeface="Aptos"/>
              </a:defRPr>
            </a:pPr>
            <a:r>
              <a:t>How Boosting Learns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32688"/>
            <a:ext cx="914400" cy="54864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789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97484"/>
                </a:solidFill>
                <a:latin typeface="Aptos"/>
              </a:defRPr>
            </a:pPr>
            <a:r>
              <a:rPr dirty="0"/>
              <a:t>A simple training 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9748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Oval 5"/>
          <p:cNvSpPr/>
          <p:nvPr/>
        </p:nvSpPr>
        <p:spPr>
          <a:xfrm>
            <a:off x="832103" y="1929384"/>
            <a:ext cx="621792" cy="621792"/>
          </a:xfrm>
          <a:prstGeom prst="ellipse">
            <a:avLst/>
          </a:prstGeom>
          <a:solidFill>
            <a:srgbClr val="239B91"/>
          </a:solidFill>
          <a:ln>
            <a:solidFill>
              <a:srgbClr val="23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2331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182A4C"/>
                </a:solidFill>
                <a:latin typeface="Aptos"/>
              </a:defRPr>
            </a:pPr>
            <a:r>
              <a:t>Train model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46120"/>
            <a:ext cx="2331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697484"/>
                </a:solidFill>
                <a:latin typeface="Aptos"/>
              </a:defRPr>
            </a:pPr>
            <a:r>
              <a:t>Use the training dataset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00200" y="2240280"/>
            <a:ext cx="1645920" cy="0"/>
          </a:xfrm>
          <a:prstGeom prst="line">
            <a:avLst/>
          </a:prstGeom>
          <a:ln w="25400">
            <a:solidFill>
              <a:srgbClr val="37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3666744" y="1929384"/>
            <a:ext cx="621792" cy="621792"/>
          </a:xfrm>
          <a:prstGeom prst="ellipse">
            <a:avLst/>
          </a:prstGeom>
          <a:solidFill>
            <a:srgbClr val="239B91"/>
          </a:solidFill>
          <a:ln>
            <a:solidFill>
              <a:srgbClr val="23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743200"/>
            <a:ext cx="2331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182A4C"/>
                </a:solidFill>
                <a:latin typeface="Aptos"/>
              </a:defRPr>
            </a:pPr>
            <a:r>
              <a:t>Check predictions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246120"/>
            <a:ext cx="2331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697484"/>
                </a:solidFill>
                <a:latin typeface="Aptos"/>
              </a:defRPr>
            </a:pPr>
            <a:r>
              <a:t>Find correct and incorrect cases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434840" y="2240280"/>
            <a:ext cx="1645920" cy="0"/>
          </a:xfrm>
          <a:prstGeom prst="line">
            <a:avLst/>
          </a:prstGeom>
          <a:ln w="25400">
            <a:solidFill>
              <a:srgbClr val="37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6501384" y="1929384"/>
            <a:ext cx="621792" cy="621792"/>
          </a:xfrm>
          <a:prstGeom prst="ellipse">
            <a:avLst/>
          </a:prstGeom>
          <a:solidFill>
            <a:srgbClr val="239B91"/>
          </a:solidFill>
          <a:ln>
            <a:solidFill>
              <a:srgbClr val="23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743200"/>
            <a:ext cx="2331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182A4C"/>
                </a:solidFill>
                <a:latin typeface="Aptos"/>
              </a:defRPr>
            </a:pPr>
            <a:r>
              <a:t>Focus on mistakes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246120"/>
            <a:ext cx="2331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697484"/>
                </a:solidFill>
                <a:latin typeface="Aptos"/>
              </a:defRPr>
            </a:pPr>
            <a:r>
              <a:t>Give harder cases more attention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69480" y="2240280"/>
            <a:ext cx="1645920" cy="0"/>
          </a:xfrm>
          <a:prstGeom prst="line">
            <a:avLst/>
          </a:prstGeom>
          <a:ln w="25400">
            <a:solidFill>
              <a:srgbClr val="37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9336024" y="1929384"/>
            <a:ext cx="621792" cy="621792"/>
          </a:xfrm>
          <a:prstGeom prst="ellipse">
            <a:avLst/>
          </a:prstGeom>
          <a:solidFill>
            <a:srgbClr val="F2B134"/>
          </a:solidFill>
          <a:ln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743200"/>
            <a:ext cx="2331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182A4C"/>
                </a:solidFill>
                <a:latin typeface="Aptos"/>
              </a:defRPr>
            </a:pPr>
            <a:r>
              <a:t>Train next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3246120"/>
            <a:ext cx="2331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697484"/>
                </a:solidFill>
                <a:latin typeface="Aptos"/>
              </a:defRPr>
            </a:pPr>
            <a:r>
              <a:t>Try to correct earlier errors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28800" y="4892040"/>
            <a:ext cx="8503920" cy="822960"/>
          </a:xfrm>
          <a:prstGeom prst="roundRect">
            <a:avLst/>
          </a:prstGeom>
          <a:solidFill>
            <a:srgbClr val="E0F6F1"/>
          </a:solidFill>
          <a:ln>
            <a:solidFill>
              <a:srgbClr val="23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900" b="1">
                <a:solidFill>
                  <a:srgbClr val="182A4C"/>
                </a:solidFill>
                <a:latin typeface="Aptos"/>
              </a:defRPr>
            </a:pPr>
            <a:r>
              <a:t>Repeat the process until the combined models perform well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182A4C"/>
                </a:solidFill>
                <a:latin typeface="Aptos"/>
              </a:defRPr>
            </a:pPr>
            <a:r>
              <a:t>What is AdaBoost?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32688"/>
            <a:ext cx="914400" cy="54864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789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97484"/>
                </a:solidFill>
                <a:latin typeface="Aptos"/>
              </a:defRPr>
            </a:pPr>
            <a:r>
              <a:t>Adaptive Boosting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97484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764792"/>
            <a:ext cx="109728" cy="109728"/>
          </a:xfrm>
          <a:prstGeom prst="ellipse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" y="1600200"/>
            <a:ext cx="998524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0">
                <a:solidFill>
                  <a:srgbClr val="28303C"/>
                </a:solidFill>
                <a:latin typeface="Aptos"/>
              </a:defRPr>
            </a:pPr>
            <a:r>
              <a:t>AdaBoost is a boosting-based ensemble algorithm.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496312"/>
            <a:ext cx="109728" cy="109728"/>
          </a:xfrm>
          <a:prstGeom prst="ellipse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2331720"/>
            <a:ext cx="998524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0">
                <a:solidFill>
                  <a:srgbClr val="28303C"/>
                </a:solidFill>
                <a:latin typeface="Aptos"/>
              </a:defRPr>
            </a:pPr>
            <a:r>
              <a:t>It trains weak learners sequentially and updates sample weights after each round.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319272"/>
            <a:ext cx="109728" cy="109728"/>
          </a:xfrm>
          <a:prstGeom prst="ellipse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" y="3154680"/>
            <a:ext cx="998524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0">
                <a:solidFill>
                  <a:srgbClr val="28303C"/>
                </a:solidFill>
                <a:latin typeface="Aptos"/>
              </a:defRPr>
            </a:pPr>
            <a:r>
              <a:t>It gives more attention to records that are misclassified.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142231"/>
            <a:ext cx="109728" cy="109728"/>
          </a:xfrm>
          <a:prstGeom prst="ellipse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3977639"/>
            <a:ext cx="998524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0">
                <a:solidFill>
                  <a:srgbClr val="28303C"/>
                </a:solidFill>
                <a:latin typeface="Aptos"/>
              </a:defRPr>
            </a:pPr>
            <a:r>
              <a:t>The final prediction combines the learners, giving stronger learners more influence.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5166360"/>
            <a:ext cx="2834640" cy="685800"/>
          </a:xfrm>
          <a:prstGeom prst="roundRect">
            <a:avLst/>
          </a:prstGeom>
          <a:solidFill>
            <a:srgbClr val="F1F6FC"/>
          </a:solidFill>
          <a:ln>
            <a:solidFill>
              <a:srgbClr val="37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182A4C"/>
                </a:solidFill>
                <a:latin typeface="Aptos"/>
              </a:defRPr>
            </a:pPr>
            <a:r>
              <a:t>Decision stump 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5166360"/>
            <a:ext cx="2834640" cy="685800"/>
          </a:xfrm>
          <a:prstGeom prst="roundRect">
            <a:avLst/>
          </a:prstGeom>
          <a:solidFill>
            <a:srgbClr val="F1F6FC"/>
          </a:solidFill>
          <a:ln>
            <a:solidFill>
              <a:srgbClr val="37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182A4C"/>
                </a:solidFill>
                <a:latin typeface="Aptos"/>
              </a:defRPr>
            </a:pPr>
            <a:r>
              <a:t>Decision stump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5166360"/>
            <a:ext cx="2834640" cy="685800"/>
          </a:xfrm>
          <a:prstGeom prst="roundRect">
            <a:avLst/>
          </a:prstGeom>
          <a:solidFill>
            <a:srgbClr val="F1F6FC"/>
          </a:solidFill>
          <a:ln>
            <a:solidFill>
              <a:srgbClr val="37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182A4C"/>
                </a:solidFill>
                <a:latin typeface="Aptos"/>
              </a:defRPr>
            </a:pPr>
            <a:r>
              <a:t>Decision stump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39" y="5257800"/>
            <a:ext cx="457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500" b="1">
                <a:solidFill>
                  <a:srgbClr val="239B9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5257800"/>
            <a:ext cx="457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500" b="1">
                <a:solidFill>
                  <a:srgbClr val="239B91"/>
                </a:solidFill>
                <a:latin typeface="Aptos"/>
              </a:defRPr>
            </a:pPr>
            <a:r>
              <a:t>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182A4C"/>
                </a:solidFill>
                <a:latin typeface="Aptos"/>
              </a:defRPr>
            </a:pPr>
            <a:r>
              <a:t>Decision Tree Stump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32688"/>
            <a:ext cx="914400" cy="54864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789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97484"/>
                </a:solidFill>
                <a:latin typeface="Aptos"/>
              </a:defRPr>
            </a:pPr>
            <a:r>
              <a:t>A very small decision tree with one split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97484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45920"/>
            <a:ext cx="3474720" cy="731520"/>
          </a:xfrm>
          <a:prstGeom prst="roundRect">
            <a:avLst/>
          </a:prstGeom>
          <a:solidFill>
            <a:srgbClr val="E6EFFD"/>
          </a:solidFill>
          <a:ln>
            <a:solidFill>
              <a:srgbClr val="37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82A4C"/>
                </a:solidFill>
                <a:latin typeface="Aptos"/>
              </a:defRPr>
            </a:pPr>
            <a:r>
              <a:t>Root question / split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3291840" y="2395728"/>
            <a:ext cx="1920240" cy="850392"/>
          </a:xfrm>
          <a:prstGeom prst="line">
            <a:avLst/>
          </a:prstGeom>
          <a:ln w="25400">
            <a:solidFill>
              <a:srgbClr val="37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949440" y="2395728"/>
            <a:ext cx="1920240" cy="850392"/>
          </a:xfrm>
          <a:prstGeom prst="line">
            <a:avLst/>
          </a:prstGeom>
          <a:ln w="25400">
            <a:solidFill>
              <a:srgbClr val="37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737360" y="3291840"/>
            <a:ext cx="3108960" cy="777240"/>
          </a:xfrm>
          <a:prstGeom prst="roundRect">
            <a:avLst/>
          </a:prstGeom>
          <a:solidFill>
            <a:srgbClr val="E0F6F1"/>
          </a:solidFill>
          <a:ln>
            <a:solidFill>
              <a:srgbClr val="23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182A4C"/>
                </a:solidFill>
                <a:latin typeface="Aptos"/>
              </a:defRPr>
            </a:pPr>
            <a:r>
              <a:t>Leaf: Prediction 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3291840"/>
            <a:ext cx="3108960" cy="777240"/>
          </a:xfrm>
          <a:prstGeom prst="roundRect">
            <a:avLst/>
          </a:prstGeom>
          <a:solidFill>
            <a:srgbClr val="FFF4DC"/>
          </a:solidFill>
          <a:ln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182A4C"/>
                </a:solidFill>
                <a:latin typeface="Aptos"/>
              </a:defRPr>
            </a:pPr>
            <a:r>
              <a:t>Leaf: Prediction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80" y="4434840"/>
            <a:ext cx="2103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697484"/>
                </a:solidFill>
                <a:latin typeface="Aptos"/>
              </a:defRPr>
            </a:pPr>
            <a:r>
              <a:t>One split</a:t>
            </a:r>
          </a:p>
        </p:txBody>
      </p:sp>
      <p:sp>
        <p:nvSpPr>
          <p:cNvPr id="12" name="Oval 11"/>
          <p:cNvSpPr/>
          <p:nvPr/>
        </p:nvSpPr>
        <p:spPr>
          <a:xfrm>
            <a:off x="1097280" y="5239512"/>
            <a:ext cx="109728" cy="109728"/>
          </a:xfrm>
          <a:prstGeom prst="ellipse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53312" y="5074920"/>
            <a:ext cx="961948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28303C"/>
                </a:solidFill>
                <a:latin typeface="Aptos"/>
              </a:defRPr>
            </a:pPr>
            <a:r>
              <a:t>AdaBoost commonly uses decision stumps as its weak learners.</a:t>
            </a:r>
          </a:p>
        </p:txBody>
      </p:sp>
      <p:sp>
        <p:nvSpPr>
          <p:cNvPr id="14" name="Oval 13"/>
          <p:cNvSpPr/>
          <p:nvPr/>
        </p:nvSpPr>
        <p:spPr>
          <a:xfrm>
            <a:off x="1097280" y="5833872"/>
            <a:ext cx="109728" cy="109728"/>
          </a:xfrm>
          <a:prstGeom prst="ellipse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AE6547-EB4B-7EC2-449E-1DEDAB701A25}"/>
              </a:ext>
            </a:extLst>
          </p:cNvPr>
          <p:cNvSpPr txBox="1"/>
          <p:nvPr/>
        </p:nvSpPr>
        <p:spPr>
          <a:xfrm>
            <a:off x="1353312" y="5749355"/>
            <a:ext cx="9619488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 b="0">
                <a:solidFill>
                  <a:srgbClr val="28303C"/>
                </a:solidFill>
                <a:latin typeface="Aptos"/>
              </a:defRPr>
            </a:pPr>
            <a:r>
              <a:rPr lang="en-US" dirty="0"/>
              <a:t>Decision Stumps has only one split. Road node and two leaf nodes.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182A4C"/>
                </a:solidFill>
                <a:latin typeface="Aptos"/>
              </a:defRPr>
            </a:pPr>
            <a:r>
              <a:t>Step 1 — Assign Initial Weights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32688"/>
            <a:ext cx="914400" cy="54864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789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97484"/>
                </a:solidFill>
                <a:latin typeface="Aptos"/>
              </a:defRPr>
            </a:pPr>
            <a:r>
              <a:rPr dirty="0"/>
              <a:t>Start by treating every training record equally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97484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91640"/>
            <a:ext cx="3840480" cy="1143000"/>
          </a:xfrm>
          <a:prstGeom prst="roundRect">
            <a:avLst/>
          </a:prstGeom>
          <a:solidFill>
            <a:srgbClr val="E6EFFD"/>
          </a:solidFill>
          <a:ln>
            <a:solidFill>
              <a:srgbClr val="37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182A4C"/>
                </a:solidFill>
                <a:latin typeface="Aptos"/>
              </a:defRPr>
            </a:pPr>
            <a:r>
              <a:t>Initial sample weight</a:t>
            </a:r>
            <a:br/>
            <a:r>
              <a:t>wᵢ = 1 / 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971800"/>
            <a:ext cx="3657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0">
                <a:solidFill>
                  <a:srgbClr val="697484"/>
                </a:solidFill>
                <a:latin typeface="Aptos"/>
              </a:defRPr>
            </a:pPr>
            <a:r>
              <a:t>n = number of records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1600200"/>
            <a:ext cx="3657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182A4C"/>
                </a:solidFill>
                <a:latin typeface="Aptos"/>
              </a:defRPr>
            </a:pPr>
            <a:r>
              <a:t>Example: 5 records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2331720"/>
            <a:ext cx="822960" cy="658368"/>
          </a:xfrm>
          <a:prstGeom prst="roundRect">
            <a:avLst/>
          </a:prstGeom>
          <a:solidFill>
            <a:srgbClr val="F1F6FC"/>
          </a:solidFill>
          <a:ln>
            <a:solidFill>
              <a:srgbClr val="37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82A4C"/>
                </a:solidFill>
                <a:latin typeface="Aptos"/>
              </a:defRPr>
            </a:pPr>
            <a:r>
              <a:t>Row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3246120"/>
            <a:ext cx="822960" cy="594360"/>
          </a:xfrm>
          <a:prstGeom prst="roundRect">
            <a:avLst/>
          </a:prstGeom>
          <a:solidFill>
            <a:srgbClr val="E0F6F1"/>
          </a:solidFill>
          <a:ln>
            <a:solidFill>
              <a:srgbClr val="23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82A4C"/>
                </a:solidFill>
                <a:latin typeface="Aptos"/>
              </a:defRPr>
            </a:pPr>
            <a:r>
              <a:t>0.20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79" y="2331720"/>
            <a:ext cx="822960" cy="658368"/>
          </a:xfrm>
          <a:prstGeom prst="roundRect">
            <a:avLst/>
          </a:prstGeom>
          <a:solidFill>
            <a:srgbClr val="F1F6FC"/>
          </a:solidFill>
          <a:ln>
            <a:solidFill>
              <a:srgbClr val="37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82A4C"/>
                </a:solidFill>
                <a:latin typeface="Aptos"/>
              </a:defRPr>
            </a:pPr>
            <a:r>
              <a:t>Row 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12279" y="3246120"/>
            <a:ext cx="822960" cy="594360"/>
          </a:xfrm>
          <a:prstGeom prst="roundRect">
            <a:avLst/>
          </a:prstGeom>
          <a:solidFill>
            <a:srgbClr val="E0F6F1"/>
          </a:solidFill>
          <a:ln>
            <a:solidFill>
              <a:srgbClr val="23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82A4C"/>
                </a:solidFill>
                <a:latin typeface="Aptos"/>
              </a:defRPr>
            </a:pPr>
            <a:r>
              <a:t>0.20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2331720"/>
            <a:ext cx="822960" cy="658368"/>
          </a:xfrm>
          <a:prstGeom prst="roundRect">
            <a:avLst/>
          </a:prstGeom>
          <a:solidFill>
            <a:srgbClr val="F1F6FC"/>
          </a:solidFill>
          <a:ln>
            <a:solidFill>
              <a:srgbClr val="37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82A4C"/>
                </a:solidFill>
                <a:latin typeface="Aptos"/>
              </a:defRPr>
            </a:pPr>
            <a:r>
              <a:t>Row 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3246120"/>
            <a:ext cx="822960" cy="594360"/>
          </a:xfrm>
          <a:prstGeom prst="roundRect">
            <a:avLst/>
          </a:prstGeom>
          <a:solidFill>
            <a:srgbClr val="E0F6F1"/>
          </a:solidFill>
          <a:ln>
            <a:solidFill>
              <a:srgbClr val="23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82A4C"/>
                </a:solidFill>
                <a:latin typeface="Aptos"/>
              </a:defRPr>
            </a:pPr>
            <a:r>
              <a:t>0.20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15400" y="2331720"/>
            <a:ext cx="822960" cy="658368"/>
          </a:xfrm>
          <a:prstGeom prst="roundRect">
            <a:avLst/>
          </a:prstGeom>
          <a:solidFill>
            <a:srgbClr val="F1F6FC"/>
          </a:solidFill>
          <a:ln>
            <a:solidFill>
              <a:srgbClr val="37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82A4C"/>
                </a:solidFill>
                <a:latin typeface="Aptos"/>
              </a:defRPr>
            </a:pPr>
            <a:r>
              <a:t>Row 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400" y="3246120"/>
            <a:ext cx="822960" cy="594360"/>
          </a:xfrm>
          <a:prstGeom prst="roundRect">
            <a:avLst/>
          </a:prstGeom>
          <a:solidFill>
            <a:srgbClr val="E0F6F1"/>
          </a:solidFill>
          <a:ln>
            <a:solidFill>
              <a:srgbClr val="23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82A4C"/>
                </a:solidFill>
                <a:latin typeface="Aptos"/>
              </a:defRPr>
            </a:pPr>
            <a:r>
              <a:t>0.20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66959" y="2331720"/>
            <a:ext cx="822960" cy="658368"/>
          </a:xfrm>
          <a:prstGeom prst="roundRect">
            <a:avLst/>
          </a:prstGeom>
          <a:solidFill>
            <a:srgbClr val="F1F6FC"/>
          </a:solidFill>
          <a:ln>
            <a:solidFill>
              <a:srgbClr val="37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82A4C"/>
                </a:solidFill>
                <a:latin typeface="Aptos"/>
              </a:defRPr>
            </a:pPr>
            <a:r>
              <a:t>Row 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66959" y="3246120"/>
            <a:ext cx="822960" cy="594360"/>
          </a:xfrm>
          <a:prstGeom prst="roundRect">
            <a:avLst/>
          </a:prstGeom>
          <a:solidFill>
            <a:srgbClr val="E0F6F1"/>
          </a:solidFill>
          <a:ln>
            <a:solidFill>
              <a:srgbClr val="23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82A4C"/>
                </a:solidFill>
                <a:latin typeface="Aptos"/>
              </a:defRPr>
            </a:pPr>
            <a:r>
              <a:t>0.20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4160520"/>
            <a:ext cx="5486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239B91"/>
                </a:solidFill>
                <a:latin typeface="Aptos"/>
              </a:defRPr>
            </a:pPr>
            <a:r>
              <a:t>Each record starts with weight 1/5 = 0.20</a:t>
            </a:r>
          </a:p>
        </p:txBody>
      </p:sp>
      <p:sp>
        <p:nvSpPr>
          <p:cNvPr id="20" name="Oval 19"/>
          <p:cNvSpPr/>
          <p:nvPr/>
        </p:nvSpPr>
        <p:spPr>
          <a:xfrm>
            <a:off x="1005840" y="5239512"/>
            <a:ext cx="109728" cy="109728"/>
          </a:xfrm>
          <a:prstGeom prst="ellipse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61872" y="5074920"/>
            <a:ext cx="980236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0">
                <a:solidFill>
                  <a:srgbClr val="28303C"/>
                </a:solidFill>
                <a:latin typeface="Aptos"/>
              </a:defRPr>
            </a:pPr>
            <a:r>
              <a:t>Weights represent how much attention each record receives.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182A4C"/>
                </a:solidFill>
                <a:latin typeface="Aptos"/>
              </a:defRPr>
            </a:pPr>
            <a:r>
              <a:t>Steps 2–4 — Train and Measure Error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32688"/>
            <a:ext cx="914400" cy="54864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789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97484"/>
                </a:solidFill>
                <a:latin typeface="Aptos"/>
              </a:defRPr>
            </a:pPr>
            <a:r>
              <a:t>Build the first decision stump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97484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2926080" cy="914400"/>
          </a:xfrm>
          <a:prstGeom prst="roundRect">
            <a:avLst/>
          </a:prstGeom>
          <a:solidFill>
            <a:srgbClr val="E6EFFD"/>
          </a:solidFill>
          <a:ln>
            <a:solidFill>
              <a:srgbClr val="37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182A4C"/>
                </a:solidFill>
                <a:latin typeface="Aptos"/>
              </a:defRPr>
            </a:pPr>
            <a:r>
              <a:t>Choose the best split</a:t>
            </a:r>
            <a:br/>
            <a:r>
              <a:t>(Gini or Entropy)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794760" y="2148840"/>
            <a:ext cx="594360" cy="0"/>
          </a:xfrm>
          <a:prstGeom prst="line">
            <a:avLst/>
          </a:prstGeom>
          <a:ln w="25400">
            <a:solidFill>
              <a:srgbClr val="69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480560" y="1691640"/>
            <a:ext cx="2926080" cy="914400"/>
          </a:xfrm>
          <a:prstGeom prst="roundRect">
            <a:avLst/>
          </a:prstGeom>
          <a:solidFill>
            <a:srgbClr val="F1F6FC"/>
          </a:solidFill>
          <a:ln>
            <a:solidFill>
              <a:srgbClr val="37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182A4C"/>
                </a:solidFill>
                <a:latin typeface="Aptos"/>
              </a:defRPr>
            </a:pPr>
            <a:r>
              <a:t>Make predictions</a:t>
            </a:r>
            <a:br/>
            <a:r>
              <a:t>(correct / incorrect)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498079" y="2148840"/>
            <a:ext cx="594361" cy="0"/>
          </a:xfrm>
          <a:prstGeom prst="line">
            <a:avLst/>
          </a:prstGeom>
          <a:ln w="25400">
            <a:solidFill>
              <a:srgbClr val="69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183879" y="1691640"/>
            <a:ext cx="2926080" cy="914400"/>
          </a:xfrm>
          <a:prstGeom prst="roundRect">
            <a:avLst/>
          </a:prstGeom>
          <a:solidFill>
            <a:srgbClr val="FFF4DC"/>
          </a:solidFill>
          <a:ln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182A4C"/>
                </a:solidFill>
                <a:latin typeface="Aptos"/>
              </a:defRPr>
            </a:pPr>
            <a:r>
              <a:t>Calculate weighted error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54680"/>
            <a:ext cx="10332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100" b="1">
                <a:solidFill>
                  <a:srgbClr val="182A4C"/>
                </a:solidFill>
                <a:latin typeface="Aptos"/>
              </a:defRPr>
            </a:pPr>
            <a:r>
              <a:t>Weighted error = sum of the weights of misclassified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160520"/>
            <a:ext cx="1463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697484"/>
                </a:solidFill>
                <a:latin typeface="Aptos"/>
              </a:defRPr>
            </a:pPr>
            <a:r>
              <a:t>Example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051560" y="4572000"/>
          <a:ext cx="996696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Record</a:t>
                      </a:r>
                    </a:p>
                  </a:txBody>
                  <a:tcPr>
                    <a:solidFill>
                      <a:srgbClr val="182A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Weight</a:t>
                      </a:r>
                    </a:p>
                  </a:txBody>
                  <a:tcPr>
                    <a:solidFill>
                      <a:srgbClr val="182A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Prediction</a:t>
                      </a:r>
                    </a:p>
                  </a:txBody>
                  <a:tcPr>
                    <a:solidFill>
                      <a:srgbClr val="182A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303C"/>
                          </a:solidFill>
                        </a:defRPr>
                      </a:pPr>
                      <a:r>
                        <a:t>Row A</a:t>
                      </a:r>
                    </a:p>
                  </a:txBody>
                  <a:tcPr>
                    <a:solidFill>
                      <a:srgbClr val="F1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303C"/>
                          </a:solidFill>
                        </a:defRPr>
                      </a:pPr>
                      <a:r>
                        <a:t>0.20</a:t>
                      </a:r>
                    </a:p>
                  </a:txBody>
                  <a:tcPr>
                    <a:solidFill>
                      <a:srgbClr val="F1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303C"/>
                          </a:solidFill>
                        </a:defRPr>
                      </a:pPr>
                      <a:r>
                        <a:t>Correct</a:t>
                      </a:r>
                    </a:p>
                  </a:txBody>
                  <a:tcPr>
                    <a:solidFill>
                      <a:srgbClr val="F1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303C"/>
                          </a:solidFill>
                        </a:defRPr>
                      </a:pPr>
                      <a:r>
                        <a:t>Row B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303C"/>
                          </a:solidFill>
                        </a:defRPr>
                      </a:pPr>
                      <a:r>
                        <a:t>0.20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D4B4B"/>
                          </a:solidFill>
                        </a:defRPr>
                      </a:pPr>
                      <a:r>
                        <a:t>Incorrect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182A4C"/>
                </a:solidFill>
                <a:latin typeface="Aptos"/>
              </a:defRPr>
            </a:pPr>
            <a:r>
              <a:t>Step 5 — Calculate Model Weight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32688"/>
            <a:ext cx="914400" cy="54864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789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97484"/>
                </a:solidFill>
                <a:latin typeface="Aptos"/>
              </a:defRPr>
            </a:pPr>
            <a:r>
              <a:t>A better-performing learner gets more influence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97484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4572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82A4C"/>
                </a:solidFill>
                <a:latin typeface="Aptos"/>
              </a:defRPr>
            </a:pPr>
            <a:r>
              <a:t>AdaBoost model weight (alpha)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94560"/>
            <a:ext cx="4663440" cy="960120"/>
          </a:xfrm>
          <a:prstGeom prst="roundRect">
            <a:avLst/>
          </a:prstGeom>
          <a:solidFill>
            <a:srgbClr val="E6EFFD"/>
          </a:solidFill>
          <a:ln>
            <a:solidFill>
              <a:srgbClr val="37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182A4C"/>
                </a:solidFill>
                <a:latin typeface="Aptos"/>
              </a:defRPr>
            </a:pPr>
            <a:r>
              <a:t>α = ½ ln((1 − error) / error)</a:t>
            </a:r>
          </a:p>
        </p:txBody>
      </p:sp>
      <p:sp>
        <p:nvSpPr>
          <p:cNvPr id="8" name="Oval 7"/>
          <p:cNvSpPr/>
          <p:nvPr/>
        </p:nvSpPr>
        <p:spPr>
          <a:xfrm>
            <a:off x="5943600" y="2130552"/>
            <a:ext cx="109728" cy="109728"/>
          </a:xfrm>
          <a:prstGeom prst="ellipse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99632" y="1965960"/>
            <a:ext cx="477316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0">
                <a:solidFill>
                  <a:srgbClr val="28303C"/>
                </a:solidFill>
                <a:latin typeface="Aptos"/>
              </a:defRPr>
            </a:pPr>
            <a:r>
              <a:t>Lower weighted error → higher model weight.</a:t>
            </a:r>
          </a:p>
        </p:txBody>
      </p:sp>
      <p:sp>
        <p:nvSpPr>
          <p:cNvPr id="10" name="Oval 9"/>
          <p:cNvSpPr/>
          <p:nvPr/>
        </p:nvSpPr>
        <p:spPr>
          <a:xfrm>
            <a:off x="5943600" y="2953512"/>
            <a:ext cx="109728" cy="109728"/>
          </a:xfrm>
          <a:prstGeom prst="ellipse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99632" y="2788920"/>
            <a:ext cx="477316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0">
                <a:solidFill>
                  <a:srgbClr val="28303C"/>
                </a:solidFill>
                <a:latin typeface="Aptos"/>
              </a:defRPr>
            </a:pPr>
            <a:r>
              <a:t>A learner with error near 0.5 provides little useful information.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0" y="3776472"/>
            <a:ext cx="109728" cy="109728"/>
          </a:xfrm>
          <a:prstGeom prst="ellipse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99632" y="3611880"/>
            <a:ext cx="477316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0">
                <a:solidFill>
                  <a:srgbClr val="28303C"/>
                </a:solidFill>
                <a:latin typeface="Aptos"/>
              </a:defRPr>
            </a:pPr>
            <a:r>
              <a:t>In standard AdaBoost, a learner should do better than random guessing.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4800600"/>
            <a:ext cx="9966960" cy="822960"/>
          </a:xfrm>
          <a:prstGeom prst="roundRect">
            <a:avLst/>
          </a:prstGeom>
          <a:solidFill>
            <a:srgbClr val="E0F6F1"/>
          </a:solidFill>
          <a:ln>
            <a:solidFill>
              <a:srgbClr val="23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82A4C"/>
                </a:solidFill>
                <a:latin typeface="Aptos"/>
              </a:defRPr>
            </a:pPr>
            <a:r>
              <a:t>The model weight controls how strongly this stump affects the final vote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182A4C"/>
                </a:solidFill>
                <a:latin typeface="Aptos"/>
              </a:defRPr>
            </a:pPr>
            <a:r>
              <a:t>Step 6 — Update and Normalize Weights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32688"/>
            <a:ext cx="914400" cy="54864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97484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2377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182A4C"/>
                </a:solidFill>
                <a:latin typeface="Aptos"/>
              </a:defRPr>
            </a:pPr>
            <a:r>
              <a:t>Before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645920"/>
            <a:ext cx="2377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182A4C"/>
                </a:solidFill>
                <a:latin typeface="Aptos"/>
              </a:defRPr>
            </a:pPr>
            <a:r>
              <a:t>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645920"/>
            <a:ext cx="2377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182A4C"/>
                </a:solidFill>
                <a:latin typeface="Aptos"/>
              </a:defRPr>
            </a:pPr>
            <a:r>
              <a:t>After update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2240280"/>
            <a:ext cx="2377440" cy="594360"/>
          </a:xfrm>
          <a:prstGeom prst="roundRect">
            <a:avLst/>
          </a:prstGeom>
          <a:solidFill>
            <a:srgbClr val="F1F6FC"/>
          </a:solidFill>
          <a:ln>
            <a:solidFill>
              <a:srgbClr val="37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82A4C"/>
                </a:solidFill>
                <a:latin typeface="Aptos"/>
              </a:defRPr>
            </a:pPr>
            <a:r>
              <a:t>Row 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2240280"/>
            <a:ext cx="2377440" cy="594360"/>
          </a:xfrm>
          <a:prstGeom prst="roundRect">
            <a:avLst/>
          </a:prstGeom>
          <a:solidFill>
            <a:srgbClr val="E0F6F1"/>
          </a:solidFill>
          <a:ln>
            <a:solidFill>
              <a:srgbClr val="23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82A4C"/>
                </a:solidFill>
                <a:latin typeface="Aptos"/>
              </a:defRPr>
            </a:pPr>
            <a:r>
              <a:t>Correct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269480" y="2542032"/>
            <a:ext cx="640080" cy="0"/>
          </a:xfrm>
          <a:prstGeom prst="line">
            <a:avLst/>
          </a:prstGeom>
          <a:ln w="19050">
            <a:solidFill>
              <a:srgbClr val="69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229600" y="2240280"/>
            <a:ext cx="2377440" cy="594360"/>
          </a:xfrm>
          <a:prstGeom prst="roundRect">
            <a:avLst/>
          </a:prstGeom>
          <a:solidFill>
            <a:srgbClr val="E0F6F1"/>
          </a:solidFill>
          <a:ln>
            <a:solidFill>
              <a:srgbClr val="23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82A4C"/>
                </a:solidFill>
                <a:latin typeface="Aptos"/>
              </a:defRPr>
            </a:pPr>
            <a:r>
              <a:t>Lower weight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3200400"/>
            <a:ext cx="2377440" cy="594360"/>
          </a:xfrm>
          <a:prstGeom prst="roundRect">
            <a:avLst/>
          </a:prstGeom>
          <a:solidFill>
            <a:srgbClr val="F1F6FC"/>
          </a:solidFill>
          <a:ln>
            <a:solidFill>
              <a:srgbClr val="37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82A4C"/>
                </a:solidFill>
                <a:latin typeface="Aptos"/>
              </a:defRPr>
            </a:pPr>
            <a:r>
              <a:t>Row 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3200400"/>
            <a:ext cx="2377440" cy="594360"/>
          </a:xfrm>
          <a:prstGeom prst="roundRect">
            <a:avLst/>
          </a:prstGeom>
          <a:solidFill>
            <a:srgbClr val="FFE7E7"/>
          </a:solidFill>
          <a:ln>
            <a:solidFill>
              <a:srgbClr val="CD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82A4C"/>
                </a:solidFill>
                <a:latin typeface="Aptos"/>
              </a:defRPr>
            </a:pPr>
            <a:r>
              <a:t>Incorrect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269480" y="3502152"/>
            <a:ext cx="640080" cy="0"/>
          </a:xfrm>
          <a:prstGeom prst="line">
            <a:avLst/>
          </a:prstGeom>
          <a:ln w="19050">
            <a:solidFill>
              <a:srgbClr val="69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229600" y="3200400"/>
            <a:ext cx="2377440" cy="594360"/>
          </a:xfrm>
          <a:prstGeom prst="roundRect">
            <a:avLst/>
          </a:prstGeom>
          <a:solidFill>
            <a:srgbClr val="FFE7E7"/>
          </a:solidFill>
          <a:ln>
            <a:solidFill>
              <a:srgbClr val="CD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82A4C"/>
                </a:solidFill>
                <a:latin typeface="Aptos"/>
              </a:defRPr>
            </a:pPr>
            <a:r>
              <a:t>Higher weight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4160520"/>
            <a:ext cx="2377440" cy="594360"/>
          </a:xfrm>
          <a:prstGeom prst="roundRect">
            <a:avLst/>
          </a:prstGeom>
          <a:solidFill>
            <a:srgbClr val="F1F6FC"/>
          </a:solidFill>
          <a:ln>
            <a:solidFill>
              <a:srgbClr val="37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82A4C"/>
                </a:solidFill>
                <a:latin typeface="Aptos"/>
              </a:defRPr>
            </a:pPr>
            <a:r>
              <a:t>Row 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4160520"/>
            <a:ext cx="2377440" cy="594360"/>
          </a:xfrm>
          <a:prstGeom prst="roundRect">
            <a:avLst/>
          </a:prstGeom>
          <a:solidFill>
            <a:srgbClr val="E0F6F1"/>
          </a:solidFill>
          <a:ln>
            <a:solidFill>
              <a:srgbClr val="23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82A4C"/>
                </a:solidFill>
                <a:latin typeface="Aptos"/>
              </a:defRPr>
            </a:pPr>
            <a:r>
              <a:t>Correct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269480" y="4462272"/>
            <a:ext cx="640080" cy="0"/>
          </a:xfrm>
          <a:prstGeom prst="line">
            <a:avLst/>
          </a:prstGeom>
          <a:ln w="19050">
            <a:solidFill>
              <a:srgbClr val="69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229600" y="4160520"/>
            <a:ext cx="2377440" cy="594360"/>
          </a:xfrm>
          <a:prstGeom prst="roundRect">
            <a:avLst/>
          </a:prstGeom>
          <a:solidFill>
            <a:srgbClr val="E0F6F1"/>
          </a:solidFill>
          <a:ln>
            <a:solidFill>
              <a:srgbClr val="23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82A4C"/>
                </a:solidFill>
                <a:latin typeface="Aptos"/>
              </a:defRPr>
            </a:pPr>
            <a:r>
              <a:t>Lower weight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538251"/>
            <a:ext cx="105156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800" b="1">
                <a:solidFill>
                  <a:srgbClr val="182A4C"/>
                </a:solidFill>
                <a:latin typeface="Aptos"/>
              </a:defRPr>
            </a:pPr>
            <a:r>
              <a:rPr sz="1400" dirty="0"/>
              <a:t>Normalize each new weight: new weight ÷ sum of all new weights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-1346563" y="5936198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2571750" lvl="5" indent="-285750">
              <a:buFont typeface="Arial" panose="020B0604020202020204" pitchFamily="34" charset="0"/>
              <a:buChar char="•"/>
              <a:defRPr sz="1400" b="0">
                <a:solidFill>
                  <a:srgbClr val="697484"/>
                </a:solidFill>
                <a:latin typeface="Aptos"/>
              </a:defRPr>
            </a:pPr>
            <a:r>
              <a:rPr b="1" dirty="0">
                <a:solidFill>
                  <a:srgbClr val="182A4C"/>
                </a:solidFill>
                <a:latin typeface="Aptos"/>
              </a:rPr>
              <a:t>After normalization, all sample weights add up to 1 (not 0).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A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789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Putting It All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058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0">
                <a:solidFill>
                  <a:srgbClr val="BED3EF"/>
                </a:solidFill>
                <a:latin typeface="Aptos"/>
              </a:defRPr>
            </a:pPr>
            <a:r>
              <a:t>AdaBoost repeats the same cycle</a:t>
            </a:r>
          </a:p>
        </p:txBody>
      </p:sp>
      <p:sp>
        <p:nvSpPr>
          <p:cNvPr id="4" name="Oval 3"/>
          <p:cNvSpPr/>
          <p:nvPr/>
        </p:nvSpPr>
        <p:spPr>
          <a:xfrm>
            <a:off x="950976" y="2093976"/>
            <a:ext cx="658368" cy="658368"/>
          </a:xfrm>
          <a:prstGeom prst="ellipse">
            <a:avLst/>
          </a:prstGeom>
          <a:solidFill>
            <a:srgbClr val="239B91"/>
          </a:solidFill>
          <a:ln>
            <a:solidFill>
              <a:srgbClr val="23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971800"/>
            <a:ext cx="1645920" cy="914400"/>
          </a:xfrm>
          <a:prstGeom prst="roundRect">
            <a:avLst/>
          </a:prstGeom>
          <a:solidFill>
            <a:srgbClr val="263E64"/>
          </a:solidFill>
          <a:ln>
            <a:solidFill>
              <a:srgbClr val="557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Initialize</a:t>
            </a:r>
            <a:br/>
            <a:r>
              <a:t>weights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13432" y="3429000"/>
            <a:ext cx="493776" cy="0"/>
          </a:xfrm>
          <a:prstGeom prst="line">
            <a:avLst/>
          </a:prstGeom>
          <a:ln w="25400">
            <a:solidFill>
              <a:srgbClr val="BED3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3282696" y="2093976"/>
            <a:ext cx="658368" cy="658368"/>
          </a:xfrm>
          <a:prstGeom prst="ellipse">
            <a:avLst/>
          </a:prstGeom>
          <a:solidFill>
            <a:srgbClr val="239B91"/>
          </a:solidFill>
          <a:ln>
            <a:solidFill>
              <a:srgbClr val="23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79" y="2971800"/>
            <a:ext cx="1645920" cy="914400"/>
          </a:xfrm>
          <a:prstGeom prst="roundRect">
            <a:avLst/>
          </a:prstGeom>
          <a:solidFill>
            <a:srgbClr val="263E64"/>
          </a:solidFill>
          <a:ln>
            <a:solidFill>
              <a:srgbClr val="557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Train a</a:t>
            </a:r>
            <a:br/>
            <a:r>
              <a:t>stump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645152" y="3429000"/>
            <a:ext cx="493775" cy="0"/>
          </a:xfrm>
          <a:prstGeom prst="line">
            <a:avLst/>
          </a:prstGeom>
          <a:ln w="25400">
            <a:solidFill>
              <a:srgbClr val="BED3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5614416" y="2093976"/>
            <a:ext cx="658368" cy="658368"/>
          </a:xfrm>
          <a:prstGeom prst="ellipse">
            <a:avLst/>
          </a:prstGeom>
          <a:solidFill>
            <a:srgbClr val="239B91"/>
          </a:solidFill>
          <a:ln>
            <a:solidFill>
              <a:srgbClr val="23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57800" y="2971800"/>
            <a:ext cx="1645920" cy="914400"/>
          </a:xfrm>
          <a:prstGeom prst="roundRect">
            <a:avLst/>
          </a:prstGeom>
          <a:solidFill>
            <a:srgbClr val="263E64"/>
          </a:solidFill>
          <a:ln>
            <a:solidFill>
              <a:srgbClr val="557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Calculate</a:t>
            </a:r>
            <a:br/>
            <a:r>
              <a:t>error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976872" y="3429000"/>
            <a:ext cx="493776" cy="0"/>
          </a:xfrm>
          <a:prstGeom prst="line">
            <a:avLst/>
          </a:prstGeom>
          <a:ln w="25400">
            <a:solidFill>
              <a:srgbClr val="BED3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946136" y="2093976"/>
            <a:ext cx="658368" cy="658368"/>
          </a:xfrm>
          <a:prstGeom prst="ellipse">
            <a:avLst/>
          </a:prstGeom>
          <a:solidFill>
            <a:srgbClr val="239B91"/>
          </a:solidFill>
          <a:ln>
            <a:solidFill>
              <a:srgbClr val="23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19" y="2971800"/>
            <a:ext cx="1645920" cy="914400"/>
          </a:xfrm>
          <a:prstGeom prst="roundRect">
            <a:avLst/>
          </a:prstGeom>
          <a:solidFill>
            <a:srgbClr val="263E64"/>
          </a:solidFill>
          <a:ln>
            <a:solidFill>
              <a:srgbClr val="557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rPr dirty="0"/>
              <a:t>Calculate</a:t>
            </a:r>
            <a:br>
              <a:rPr dirty="0"/>
            </a:br>
            <a:r>
              <a:rPr dirty="0"/>
              <a:t>model weight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308592" y="3429000"/>
            <a:ext cx="493775" cy="0"/>
          </a:xfrm>
          <a:prstGeom prst="line">
            <a:avLst/>
          </a:prstGeom>
          <a:ln w="25400">
            <a:solidFill>
              <a:srgbClr val="BED3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10277856" y="2093976"/>
            <a:ext cx="658368" cy="658368"/>
          </a:xfrm>
          <a:prstGeom prst="ellipse">
            <a:avLst/>
          </a:prstGeom>
          <a:solidFill>
            <a:srgbClr val="F2B134"/>
          </a:solidFill>
          <a:ln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21240" y="2971800"/>
            <a:ext cx="1645920" cy="914400"/>
          </a:xfrm>
          <a:prstGeom prst="roundRect">
            <a:avLst/>
          </a:prstGeom>
          <a:solidFill>
            <a:srgbClr val="263E64"/>
          </a:solidFill>
          <a:ln>
            <a:solidFill>
              <a:srgbClr val="557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Update +</a:t>
            </a:r>
            <a:br/>
            <a:r>
              <a:t>normalize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343400"/>
            <a:ext cx="4846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BED3EF"/>
                </a:solidFill>
                <a:latin typeface="Aptos"/>
              </a:defRPr>
            </a:pPr>
            <a:r>
              <a:t>Repeat with the next stump…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34640" y="4983480"/>
            <a:ext cx="6492240" cy="822960"/>
          </a:xfrm>
          <a:prstGeom prst="roundRect">
            <a:avLst/>
          </a:prstGeom>
          <a:solidFill>
            <a:srgbClr val="E0F6F1"/>
          </a:solidFill>
          <a:ln>
            <a:solidFill>
              <a:srgbClr val="23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182A4C"/>
                </a:solidFill>
                <a:latin typeface="Aptos"/>
              </a:defRPr>
            </a:pPr>
            <a:r>
              <a:t>Combine stump predictions → Strong learner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BED3EF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582</Words>
  <Application>Microsoft Office PowerPoint</Application>
  <PresentationFormat>Widescreen</PresentationFormat>
  <Paragraphs>131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918939696018</cp:lastModifiedBy>
  <cp:revision>4</cp:revision>
  <dcterms:created xsi:type="dcterms:W3CDTF">2013-01-27T09:14:16Z</dcterms:created>
  <dcterms:modified xsi:type="dcterms:W3CDTF">2026-10-27T23:21:19Z</dcterms:modified>
  <cp:category/>
</cp:coreProperties>
</file>