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LightGBM Algorithm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A fast, scalable gradient-boosting framework for large tabular datasets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1/7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1554480"/>
            <a:ext cx="475488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300" b="1">
                <a:solidFill>
                  <a:srgbClr val="15A6A6"/>
                </a:solidFill>
                <a:latin typeface="Aptos"/>
              </a:rPr>
              <a:t>Designed for efficient learning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331720"/>
            <a:ext cx="4389120" cy="246888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0536B"/>
                </a:solidFill>
                <a:latin typeface="Aptos"/>
              </a:defRPr>
            </a:pPr>
            <a:r>
              <a:t>•  Handles large datasets; 20 million records is a useful example scale.</a:t>
            </a:r>
          </a:p>
          <a:p>
            <a:pPr>
              <a:spcAft>
                <a:spcPts val="1200"/>
              </a:spcAft>
              <a:defRPr sz="1600">
                <a:solidFill>
                  <a:srgbClr val="40536B"/>
                </a:solidFill>
                <a:latin typeface="Aptos"/>
              </a:defRPr>
            </a:pPr>
            <a:r>
              <a:t>•  Often faster than conventional gradient-boosting implementations such as XGBoost, depending on workload and settings.</a:t>
            </a:r>
          </a:p>
          <a:p>
            <a:pPr>
              <a:spcAft>
                <a:spcPts val="1200"/>
              </a:spcAft>
              <a:defRPr sz="1600">
                <a:solidFill>
                  <a:srgbClr val="40536B"/>
                </a:solidFill>
                <a:latin typeface="Aptos"/>
              </a:defRPr>
            </a:pPr>
            <a:r>
              <a:t>•  Developed at Microsoft Research to improve training efficiency and scalability.</a:t>
            </a:r>
          </a:p>
        </p:txBody>
      </p:sp>
      <p:pic>
        <p:nvPicPr>
          <p:cNvPr id="15" name="Picture 14" descr="lightgbm_slide1_big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08760"/>
            <a:ext cx="6537960" cy="3886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1520" y="5897880"/>
            <a:ext cx="107899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Key message: efficient training comes from several complementary design choices.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1. Histogram-Based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Reduce the number of split candidates by grouping continuous values into bins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2/7</a:t>
            </a:r>
          </a:p>
        </p:txBody>
      </p:sp>
      <p:pic>
        <p:nvPicPr>
          <p:cNvPr id="13" name="Picture 12" descr="lightgbm_slide2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8368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52360" y="1691640"/>
            <a:ext cx="4023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5A6A6"/>
                </a:solidFill>
                <a:latin typeface="Aptos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2360" y="2194560"/>
            <a:ext cx="3977639" cy="256032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Continuous feature values are discretized into a limited number of bins.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The algorithm evaluates splits at bin boundaries rather than every unique value.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This reduces memory use and split-search cost in many datasets.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52360" y="4983480"/>
            <a:ext cx="3840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40536B"/>
                </a:solidFill>
                <a:latin typeface="Aptos"/>
              </a:rPr>
              <a:t>Example: values such as 1.1, 1.3 and 1.4 may map to the same bin.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2. Leaf-Wise Tree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Choose the leaf with the greatest expected reduction in loss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3/7</a:t>
            </a:r>
          </a:p>
        </p:txBody>
      </p:sp>
      <p:pic>
        <p:nvPicPr>
          <p:cNvPr id="13" name="Picture 12" descr="lightgbm_slide3_leaf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691640"/>
            <a:ext cx="4114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5A6A6"/>
                </a:solidFill>
                <a:latin typeface="Aptos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4069080" cy="265176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At each step, evaluate candidate splits across current leaves.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Grow the leaf that gives the largest gain in the objective.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Other leaves wait until selected; they are not permanently stopped.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029200"/>
            <a:ext cx="406908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536B"/>
                </a:solidFill>
                <a:latin typeface="Aptos"/>
              </a:rPr>
              <a:t>Important: leaf-wise growth can overfit. Control it with num_leaves, max_depth, min_data_in_leaf and validation.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3. Gradient-Based One-Side Sampling (GOSS)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Prioritize examples with larger gradients while sampling from the 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4/7</a:t>
            </a:r>
          </a:p>
        </p:txBody>
      </p:sp>
      <p:pic>
        <p:nvPicPr>
          <p:cNvPr id="13" name="Picture 12" descr="lightgbm_slide4_g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691640"/>
            <a:ext cx="4114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5A6A6"/>
                </a:solidFill>
                <a:latin typeface="Aptos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4069080" cy="265176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After an initial prediction, calculate gradients for training examples.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Keep all examples with large gradient magnitudes.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Randomly sample some lower-gradient examples; apply correction weights to reduce sampling bias.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074920"/>
            <a:ext cx="40233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536B"/>
                </a:solidFill>
                <a:latin typeface="Aptos"/>
              </a:rPr>
              <a:t>Large gradients often indicate examples the current model has not fitted well.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4. Exclusive Feature Bundling (EFB)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Reduce effective feature dimensionality for sparse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5/7</a:t>
            </a:r>
          </a:p>
        </p:txBody>
      </p:sp>
      <p:pic>
        <p:nvPicPr>
          <p:cNvPr id="13" name="Picture 12" descr="lightgbm_slide5_ef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49224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1691640"/>
            <a:ext cx="411480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5A6A6"/>
                </a:solidFill>
                <a:latin typeface="Aptos"/>
              </a:rPr>
              <a:t>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194560"/>
            <a:ext cx="4069080" cy="265176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Many sparse features are zero for most rows.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If features are mutually exclusive—or rarely non-zero together—they can be bundled into a compact representation.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This can reduce the number of features the learner needs to process.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5074920"/>
            <a:ext cx="402336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536B"/>
                </a:solidFill>
                <a:latin typeface="Aptos"/>
              </a:rPr>
              <a:t>Correction to the original phrase: EFB is about non-overlapping non-zero patterns, not matching dates or identical combinations.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Why LightGBM Can Be Faster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Efficiency comes from the combination of histogram learning, leaf-wise growth, GOSS and EFB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6/7</a:t>
            </a:r>
          </a:p>
        </p:txBody>
      </p:sp>
      <p:pic>
        <p:nvPicPr>
          <p:cNvPr id="13" name="Picture 12" descr="lightgbm_slide6_sp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508760"/>
            <a:ext cx="6537960" cy="416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06640" y="1691640"/>
            <a:ext cx="402336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900" b="1">
                <a:solidFill>
                  <a:srgbClr val="15A6A6"/>
                </a:solidFill>
                <a:latin typeface="Aptos"/>
              </a:rPr>
              <a:t>Compared with other GBDT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2194560"/>
            <a:ext cx="3886200" cy="265176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40536B"/>
                </a:solidFill>
                <a:latin typeface="Aptos"/>
              </a:defRPr>
            </a:pPr>
            <a:r>
              <a:t>•  Histogram bins reduce split-search work.</a:t>
            </a:r>
          </a:p>
          <a:p>
            <a:pPr>
              <a:spcAft>
                <a:spcPts val="1200"/>
              </a:spcAft>
              <a:defRPr sz="1400">
                <a:solidFill>
                  <a:srgbClr val="40536B"/>
                </a:solidFill>
                <a:latin typeface="Aptos"/>
              </a:defRPr>
            </a:pPr>
            <a:r>
              <a:t>•  GOSS can reduce the number of rows used for split evaluation.</a:t>
            </a:r>
          </a:p>
          <a:p>
            <a:pPr>
              <a:spcAft>
                <a:spcPts val="1200"/>
              </a:spcAft>
              <a:defRPr sz="1400">
                <a:solidFill>
                  <a:srgbClr val="40536B"/>
                </a:solidFill>
                <a:latin typeface="Aptos"/>
              </a:defRPr>
            </a:pPr>
            <a:r>
              <a:t>•  EFB can reduce work on sparse feature sets.</a:t>
            </a:r>
          </a:p>
          <a:p>
            <a:pPr>
              <a:spcAft>
                <a:spcPts val="1200"/>
              </a:spcAft>
              <a:defRPr sz="1400">
                <a:solidFill>
                  <a:srgbClr val="40536B"/>
                </a:solidFill>
                <a:latin typeface="Aptos"/>
              </a:defRPr>
            </a:pPr>
            <a:r>
              <a:t>•  Actual speed depends on data shape, hardware, parameters and implementation.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74519" cy="6858000"/>
          </a:xfrm>
          <a:prstGeom prst="rect">
            <a:avLst/>
          </a:prstGeom>
          <a:solidFill>
            <a:srgbClr val="F8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828800" y="0"/>
            <a:ext cx="1874519" cy="6858000"/>
          </a:xfrm>
          <a:prstGeom prst="rect">
            <a:avLst/>
          </a:prstGeom>
          <a:solidFill>
            <a:srgbClr val="F5F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657600" y="0"/>
            <a:ext cx="1874519" cy="6858000"/>
          </a:xfrm>
          <a:prstGeom prst="rect">
            <a:avLst/>
          </a:prstGeom>
          <a:solidFill>
            <a:srgbClr val="F3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0" y="0"/>
            <a:ext cx="1874519" cy="6858000"/>
          </a:xfrm>
          <a:prstGeom prst="rect">
            <a:avLst/>
          </a:prstGeom>
          <a:solidFill>
            <a:srgbClr val="F1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0" y="0"/>
            <a:ext cx="1874519" cy="6858000"/>
          </a:xfrm>
          <a:prstGeom prst="rect">
            <a:avLst/>
          </a:prstGeom>
          <a:solidFill>
            <a:srgbClr val="EF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0" y="0"/>
            <a:ext cx="1874519" cy="6858000"/>
          </a:xfrm>
          <a:prstGeom prst="rect">
            <a:avLst/>
          </a:prstGeom>
          <a:solidFill>
            <a:srgbClr val="ED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972800" y="0"/>
            <a:ext cx="1874519" cy="6858000"/>
          </a:xfrm>
          <a:prstGeom prst="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800" b="1">
                <a:solidFill>
                  <a:srgbClr val="17365D"/>
                </a:solidFill>
                <a:latin typeface="Aptos"/>
              </a:rPr>
              <a:t>Summary: Four Core LightGBM Ideas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868680"/>
            <a:ext cx="109728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>
                <a:solidFill>
                  <a:srgbClr val="66788A"/>
                </a:solidFill>
                <a:latin typeface="Aptos"/>
              </a:rPr>
              <a:t>A practical mental model for scalable gradient boosting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1261872"/>
            <a:ext cx="960120" cy="50292"/>
          </a:xfrm>
          <a:prstGeom prst="rect">
            <a:avLst/>
          </a:prstGeom>
          <a:solidFill>
            <a:srgbClr val="15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900" b="0">
                <a:solidFill>
                  <a:srgbClr val="66788A"/>
                </a:solidFill>
                <a:latin typeface="Aptos"/>
              </a:rPr>
              <a:t>7/7</a:t>
            </a:r>
          </a:p>
        </p:txBody>
      </p:sp>
      <p:pic>
        <p:nvPicPr>
          <p:cNvPr id="13" name="Picture 12" descr="lightgbm_slide7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417320"/>
            <a:ext cx="6675120" cy="44805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543800" y="1737360"/>
            <a:ext cx="384048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>
                <a:solidFill>
                  <a:srgbClr val="15A6A6"/>
                </a:solidFill>
                <a:latin typeface="Aptos"/>
              </a:rP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43800" y="2331720"/>
            <a:ext cx="3794760" cy="2560320"/>
          </a:xfrm>
          <a:prstGeom prst="rect">
            <a:avLst/>
          </a:prstGeom>
          <a:noFill/>
        </p:spPr>
        <p:txBody>
          <a:bodyPr wrap="square" lIns="73152" tIns="36576" rIns="45720" bIns="36576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Histogram learning: bin values.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Leaf-wise growth: split where gain is highest.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GOSS: keep high-gradient examples and sample the rest.</a:t>
            </a:r>
          </a:p>
          <a:p>
            <a:pPr>
              <a:spcAft>
                <a:spcPts val="1200"/>
              </a:spcAft>
              <a:defRPr sz="1500">
                <a:solidFill>
                  <a:srgbClr val="40536B"/>
                </a:solidFill>
                <a:latin typeface="Aptos"/>
              </a:defRPr>
            </a:pPr>
            <a:r>
              <a:t>•  EFB: bundle sparse, mostly non-overlapping features.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43800" y="5074920"/>
            <a:ext cx="3749039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100" b="0">
                <a:solidFill>
                  <a:srgbClr val="40536B"/>
                </a:solidFill>
                <a:latin typeface="Aptos"/>
              </a:rPr>
              <a:t>Always compare validation performance, training time and memory on your own dataset.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528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91893</dc:creator>
  <cp:keywords/>
  <dc:description>generated using python-pptx</dc:description>
  <cp:lastModifiedBy>918939696018</cp:lastModifiedBy>
  <cp:revision>2</cp:revision>
  <dcterms:created xsi:type="dcterms:W3CDTF">2013-01-27T09:14:16Z</dcterms:created>
  <dcterms:modified xsi:type="dcterms:W3CDTF">2026-10-27T23:19:18Z</dcterms:modified>
  <cp:category/>
</cp:coreProperties>
</file>